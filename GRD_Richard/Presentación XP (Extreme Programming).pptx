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tif"/></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9.xml"/><Relationship Id="rId3" Type="http://schemas.openxmlformats.org/officeDocument/2006/relationships/slide" Target="slide11.xml"/><Relationship Id="rId4" Type="http://schemas.openxmlformats.org/officeDocument/2006/relationships/slide" Target="slide13.xml"/><Relationship Id="rId5" Type="http://schemas.openxmlformats.org/officeDocument/2006/relationships/slide" Target="slide15.xml"/><Relationship Id="rId6" Type="http://schemas.openxmlformats.org/officeDocument/2006/relationships/slide" Target="slide17.xml"/><Relationship Id="rId7" Type="http://schemas.openxmlformats.org/officeDocument/2006/relationships/slide" Target="slide19.xml"/><Relationship Id="rId8" Type="http://schemas.openxmlformats.org/officeDocument/2006/relationships/slide" Target="slide21.xml"/><Relationship Id="rId9" Type="http://schemas.openxmlformats.org/officeDocument/2006/relationships/slide" Target="slide23.xml"/><Relationship Id="rId10" Type="http://schemas.openxmlformats.org/officeDocument/2006/relationships/slide" Target="slide27.xml"/><Relationship Id="rId11" Type="http://schemas.openxmlformats.org/officeDocument/2006/relationships/slide" Target="slide29.xml"/><Relationship Id="rId12" Type="http://schemas.openxmlformats.org/officeDocument/2006/relationships/slide" Target="slide3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3.xml"/><Relationship Id="rId3" Type="http://schemas.openxmlformats.org/officeDocument/2006/relationships/slide" Target="slide10.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1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3.xml"/><Relationship Id="rId3" Type="http://schemas.openxmlformats.org/officeDocument/2006/relationships/slide" Target="slide14.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16.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18.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20.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2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24.xml"/><Relationship Id="rId3" Type="http://schemas.openxmlformats.org/officeDocument/2006/relationships/slide" Target="slide3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26.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28.xml"/><Relationship Id="rId3" Type="http://schemas.openxmlformats.org/officeDocument/2006/relationships/slide" Target="slide33.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30.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3.xml"/><Relationship Id="rId3" Type="http://schemas.openxmlformats.org/officeDocument/2006/relationships/slide" Target="slide32.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Creador de XP Extreme Programming…"/>
          <p:cNvSpPr txBox="1"/>
          <p:nvPr>
            <p:ph type="subTitle" sz="quarter" idx="1"/>
          </p:nvPr>
        </p:nvSpPr>
        <p:spPr>
          <a:xfrm>
            <a:off x="1206500" y="1527043"/>
            <a:ext cx="21971000" cy="1905001"/>
          </a:xfrm>
          <a:prstGeom prst="rect">
            <a:avLst/>
          </a:prstGeom>
        </p:spPr>
        <p:txBody>
          <a:bodyPr/>
          <a:lstStyle/>
          <a:p>
            <a:pPr defTabSz="685165">
              <a:lnSpc>
                <a:spcPct val="200000"/>
              </a:lnSpc>
              <a:defRPr sz="4565">
                <a:latin typeface="Times New Roman"/>
                <a:ea typeface="Times New Roman"/>
                <a:cs typeface="Times New Roman"/>
                <a:sym typeface="Times New Roman"/>
              </a:defRPr>
            </a:pPr>
            <a:r>
              <a:t>Creador de XP Extreme Programming</a:t>
            </a:r>
          </a:p>
          <a:p>
            <a:pPr defTabSz="379475">
              <a:lnSpc>
                <a:spcPct val="200000"/>
              </a:lnSpc>
              <a:defRPr b="0" sz="3320">
                <a:latin typeface="Georgia"/>
                <a:ea typeface="Georgia"/>
                <a:cs typeface="Georgia"/>
                <a:sym typeface="Georgia"/>
              </a:defRPr>
            </a:pPr>
            <a:r>
              <a:t>Su creador, Kent Beck, la diseñó con una idea en mente: Si una práctica es buena, hay que llevarla al extremo.</a:t>
            </a:r>
          </a:p>
        </p:txBody>
      </p:sp>
      <p:sp>
        <p:nvSpPr>
          <p:cNvPr id="172" name="Si revisar el código es bueno, lo hacemos todo el tiempo (Programación en parejas).…"/>
          <p:cNvSpPr txBox="1"/>
          <p:nvPr/>
        </p:nvSpPr>
        <p:spPr>
          <a:xfrm>
            <a:off x="1334310" y="4936234"/>
            <a:ext cx="16776478" cy="2451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508000" indent="-508000" defTabSz="457200">
              <a:lnSpc>
                <a:spcPct val="200000"/>
              </a:lnSpc>
              <a:spcBef>
                <a:spcPts val="0"/>
              </a:spcBef>
              <a:buSzPct val="123000"/>
              <a:buChar char="•"/>
              <a:defRPr sz="3300">
                <a:latin typeface="Georgia"/>
                <a:ea typeface="Georgia"/>
                <a:cs typeface="Georgia"/>
                <a:sym typeface="Georgia"/>
              </a:defRPr>
            </a:pPr>
            <a:r>
              <a:t>Si revisar el código es bueno, lo hacemos </a:t>
            </a:r>
            <a:r>
              <a:rPr b="1"/>
              <a:t>todo el tiempo</a:t>
            </a:r>
            <a:r>
              <a:t> (Programación en parejas).</a:t>
            </a:r>
          </a:p>
          <a:p>
            <a:pPr marL="508000" indent="-508000" defTabSz="457200">
              <a:lnSpc>
                <a:spcPct val="200000"/>
              </a:lnSpc>
              <a:spcBef>
                <a:spcPts val="0"/>
              </a:spcBef>
              <a:buSzPct val="123000"/>
              <a:buChar char="•"/>
              <a:defRPr sz="3300">
                <a:latin typeface="Georgia"/>
                <a:ea typeface="Georgia"/>
                <a:cs typeface="Georgia"/>
                <a:sym typeface="Georgia"/>
              </a:defRPr>
            </a:pPr>
            <a:r>
              <a:t>Si las pruebas son buenas, las hacemos </a:t>
            </a:r>
            <a:r>
              <a:rPr b="1"/>
              <a:t>antes de escribir el código</a:t>
            </a:r>
            <a:r>
              <a:t> (TDD).</a:t>
            </a:r>
          </a:p>
          <a:p>
            <a:pPr marL="508000" indent="-508000" defTabSz="355600">
              <a:lnSpc>
                <a:spcPct val="200000"/>
              </a:lnSpc>
              <a:spcBef>
                <a:spcPts val="0"/>
              </a:spcBef>
              <a:buSzPct val="123000"/>
              <a:buChar char="•"/>
              <a:defRPr sz="3300">
                <a:latin typeface="Georgia"/>
                <a:ea typeface="Georgia"/>
                <a:cs typeface="Georgia"/>
                <a:sym typeface="Georgia"/>
              </a:defRPr>
            </a:pPr>
            <a:r>
              <a:t>Si integrar el código es bueno, lo hacemos </a:t>
            </a:r>
            <a:r>
              <a:rPr b="1"/>
              <a:t>varias veces al día</a:t>
            </a:r>
            <a:r>
              <a:t> (Integración Continua).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Tecnica de Programación XP"/>
          <p:cNvSpPr txBox="1"/>
          <p:nvPr>
            <p:ph type="ctrTitle"/>
          </p:nvPr>
        </p:nvSpPr>
        <p:spPr>
          <a:xfrm>
            <a:off x="1206498" y="217964"/>
            <a:ext cx="19818236" cy="2970218"/>
          </a:xfrm>
          <a:prstGeom prst="rect">
            <a:avLst/>
          </a:prstGeom>
          <a:effectLst>
            <a:outerShdw sx="100000" sy="100000" kx="0" ky="0" algn="b" rotWithShape="0" blurRad="63500" dist="25400" dir="5400000">
              <a:srgbClr val="000000">
                <a:alpha val="50000"/>
              </a:srgbClr>
            </a:outerShdw>
          </a:effectLst>
        </p:spPr>
        <p:txBody>
          <a:bodyPr anchor="ctr"/>
          <a:lstStyle>
            <a:lvl1pPr algn="ctr"/>
          </a:lstStyle>
          <a:p>
            <a:pPr/>
            <a:r>
              <a:t>Tecnica de Programación XP</a:t>
            </a:r>
          </a:p>
        </p:txBody>
      </p:sp>
      <p:sp>
        <p:nvSpPr>
          <p:cNvPr id="175" name="Extreme Programming"/>
          <p:cNvSpPr txBox="1"/>
          <p:nvPr>
            <p:ph type="subTitle" sz="quarter" idx="1"/>
          </p:nvPr>
        </p:nvSpPr>
        <p:spPr>
          <a:xfrm>
            <a:off x="869781" y="2733616"/>
            <a:ext cx="8757076" cy="1905001"/>
          </a:xfrm>
          <a:prstGeom prst="rect">
            <a:avLst/>
          </a:prstGeom>
        </p:spPr>
        <p:txBody>
          <a:bodyPr anchor="ctr"/>
          <a:lstStyle>
            <a:lvl1pPr algn="ctr"/>
          </a:lstStyle>
          <a:p>
            <a:pPr/>
            <a:r>
              <a:t>Extreme Programming</a:t>
            </a:r>
          </a:p>
        </p:txBody>
      </p:sp>
      <p:sp>
        <p:nvSpPr>
          <p:cNvPr id="176" name="XP se centra al 100% en la parte técnica y en la calidad del código es una de las metodologías ágiles más populares y efectivas en el desarrollo de software.…"/>
          <p:cNvSpPr txBox="1"/>
          <p:nvPr/>
        </p:nvSpPr>
        <p:spPr>
          <a:xfrm>
            <a:off x="1515158" y="4504831"/>
            <a:ext cx="13154399" cy="41861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nSpc>
                <a:spcPct val="120000"/>
              </a:lnSpc>
              <a:defRPr sz="3400">
                <a:latin typeface="Arial"/>
                <a:ea typeface="Arial"/>
                <a:cs typeface="Arial"/>
                <a:sym typeface="Arial"/>
              </a:defRPr>
            </a:pPr>
            <a:r>
              <a:t>XP se centra al 100% en la parte técnica y en la calidad del código es una de las metodologías ágiles más populares y efectivas en el desarrollo de software. </a:t>
            </a:r>
          </a:p>
          <a:p>
            <a:pPr>
              <a:lnSpc>
                <a:spcPct val="120000"/>
              </a:lnSpc>
              <a:defRPr sz="3400">
                <a:latin typeface="Arial"/>
                <a:ea typeface="Arial"/>
                <a:cs typeface="Arial"/>
                <a:sym typeface="Arial"/>
              </a:defRPr>
            </a:pPr>
            <a:r>
              <a:t>A diferencia de otras metodologías, que se enfocan más en la gestión y organización del proyecto, </a:t>
            </a:r>
            <a:r>
              <a:rPr b="1"/>
              <a:t>XP se centra al 100% en la parte técnica y en la calidad del código</a:t>
            </a:r>
          </a:p>
        </p:txBody>
      </p:sp>
      <p:sp>
        <p:nvSpPr>
          <p:cNvPr id="177" name="Slide Number"/>
          <p:cNvSpPr txBox="1"/>
          <p:nvPr>
            <p:ph type="sldNum" sz="quarter" idx="4294967295"/>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8" name="Image" descr="Image"/>
          <p:cNvPicPr>
            <a:picLocks noChangeAspect="1"/>
          </p:cNvPicPr>
          <p:nvPr/>
        </p:nvPicPr>
        <p:blipFill>
          <a:blip r:embed="rId2">
            <a:extLst/>
          </a:blip>
          <a:stretch>
            <a:fillRect/>
          </a:stretch>
        </p:blipFill>
        <p:spPr>
          <a:xfrm>
            <a:off x="14988336" y="2913187"/>
            <a:ext cx="9224674" cy="9224674"/>
          </a:xfrm>
          <a:prstGeom prst="rect">
            <a:avLst/>
          </a:prstGeom>
          <a:ln w="12700">
            <a:miter lim="400000"/>
          </a:ln>
        </p:spPr>
      </p:pic>
      <p:sp>
        <p:nvSpPr>
          <p:cNvPr id="179" name="El enfoque de la XP mantiene como fundamento 5 valores principales: Simplicidad, Comunicación, Retroalimentación, Valentía y Respeto"/>
          <p:cNvSpPr txBox="1"/>
          <p:nvPr/>
        </p:nvSpPr>
        <p:spPr>
          <a:xfrm>
            <a:off x="1588481" y="8977088"/>
            <a:ext cx="12906153" cy="17658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120000"/>
              </a:lnSpc>
              <a:defRPr sz="3400">
                <a:latin typeface="Arial"/>
                <a:ea typeface="Arial"/>
                <a:cs typeface="Arial"/>
                <a:sym typeface="Arial"/>
              </a:defRPr>
            </a:lvl1pPr>
          </a:lstStyle>
          <a:p>
            <a:pPr/>
            <a:r>
              <a:t>El enfoque de la XP mantiene como fundamento 5 valores principales: Simplicidad, Comunicación, Retroalimentación, Valentía y Respeto</a:t>
            </a:r>
          </a:p>
        </p:txBody>
      </p:sp>
      <p:sp>
        <p:nvSpPr>
          <p:cNvPr id="180" name="Por otra parte , el proceso de la XP se basa en 4 actividades estructurales principales : planeación, diseño, codificación y pruebas"/>
          <p:cNvSpPr txBox="1"/>
          <p:nvPr/>
        </p:nvSpPr>
        <p:spPr>
          <a:xfrm>
            <a:off x="1645628" y="11029043"/>
            <a:ext cx="12230178" cy="17658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457200">
              <a:lnSpc>
                <a:spcPct val="120000"/>
              </a:lnSpc>
              <a:spcBef>
                <a:spcPts val="0"/>
              </a:spcBef>
              <a:defRPr sz="3400">
                <a:solidFill>
                  <a:srgbClr val="050505"/>
                </a:solidFill>
                <a:latin typeface="Arial"/>
                <a:ea typeface="Arial"/>
                <a:cs typeface="Arial"/>
                <a:sym typeface="Arial"/>
              </a:defRPr>
            </a:lvl1pPr>
          </a:lstStyle>
          <a:p>
            <a:pPr/>
            <a:r>
              <a:t>Por otra parte , el proceso de la XP se basa en 4 actividades estructurales principales : planeación, diseño, codificación y pruebas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Los 5 Valores Fundamentales de XP…"/>
          <p:cNvSpPr txBox="1"/>
          <p:nvPr>
            <p:ph type="ctrTitle"/>
          </p:nvPr>
        </p:nvSpPr>
        <p:spPr>
          <a:xfrm>
            <a:off x="1206498" y="1087819"/>
            <a:ext cx="21971004" cy="10875440"/>
          </a:xfrm>
          <a:prstGeom prst="rect">
            <a:avLst/>
          </a:prstGeom>
        </p:spPr>
        <p:txBody>
          <a:bodyPr anchor="ctr"/>
          <a:lstStyle/>
          <a:p>
            <a:pPr algn="ctr" defTabSz="2218888">
              <a:lnSpc>
                <a:spcPct val="120000"/>
              </a:lnSpc>
              <a:defRPr spc="-103" sz="5187"/>
            </a:pPr>
            <a:r>
              <a:t>Los 5 Valores Fundamentales de XP</a:t>
            </a:r>
            <a:r>
              <a:rPr spc="-72" sz="3640"/>
              <a:t> </a:t>
            </a:r>
            <a:endParaRPr spc="-72" sz="3640"/>
          </a:p>
          <a:p>
            <a:pPr algn="ctr" defTabSz="2218888">
              <a:lnSpc>
                <a:spcPct val="120000"/>
              </a:lnSpc>
              <a:defRPr spc="-103" sz="5187"/>
            </a:pPr>
            <a:r>
              <a:rPr spc="-72" sz="3640"/>
              <a:t>( Extreme Programming)</a:t>
            </a:r>
            <a:endParaRPr spc="-72" sz="3640"/>
          </a:p>
          <a:p>
            <a:pPr defTabSz="416052">
              <a:lnSpc>
                <a:spcPct val="120000"/>
              </a:lnSpc>
              <a:spcBef>
                <a:spcPts val="1000"/>
              </a:spcBef>
              <a:defRPr b="0" spc="0" sz="3640" u="sng">
                <a:latin typeface="Georgia"/>
                <a:ea typeface="Georgia"/>
                <a:cs typeface="Georgia"/>
                <a:sym typeface="Georgia"/>
              </a:defRPr>
            </a:pPr>
          </a:p>
          <a:p>
            <a:pPr defTabSz="416052">
              <a:lnSpc>
                <a:spcPct val="120000"/>
              </a:lnSpc>
              <a:spcBef>
                <a:spcPts val="1000"/>
              </a:spcBef>
              <a:defRPr b="0" spc="0" sz="3640" u="sng">
                <a:latin typeface="Georgia"/>
                <a:ea typeface="Georgia"/>
                <a:cs typeface="Georgia"/>
                <a:sym typeface="Georgia"/>
              </a:defRPr>
            </a:pPr>
            <a:r>
              <a:t>Para que esta técnica funcione, el equipo debe basarse en cinco pilares esenciales:</a:t>
            </a:r>
          </a:p>
          <a:p>
            <a:pPr defTabSz="416052">
              <a:lnSpc>
                <a:spcPct val="120000"/>
              </a:lnSpc>
              <a:spcBef>
                <a:spcPts val="1000"/>
              </a:spcBef>
              <a:defRPr b="0" spc="0" sz="3640">
                <a:latin typeface="Georgia"/>
                <a:ea typeface="Georgia"/>
                <a:cs typeface="Georgia"/>
                <a:sym typeface="Georgia"/>
              </a:defRPr>
            </a:pPr>
          </a:p>
          <a:p>
            <a:pPr marL="416052" indent="-288925" defTabSz="416052">
              <a:lnSpc>
                <a:spcPct val="120000"/>
              </a:lnSpc>
              <a:spcBef>
                <a:spcPts val="1000"/>
              </a:spcBef>
              <a:buSzPct val="100000"/>
              <a:buFont typeface="Times Roman"/>
              <a:defRPr b="0" spc="0" sz="3640">
                <a:latin typeface="Georgia"/>
                <a:ea typeface="Georgia"/>
                <a:cs typeface="Georgia"/>
                <a:sym typeface="Georgia"/>
              </a:defRPr>
            </a:pPr>
            <a:r>
              <a:rPr b="1"/>
              <a:t>Comunicación:</a:t>
            </a:r>
            <a:r>
              <a:t> En XP no se asumen las cosas; los desarrolladores, los diseñadores y el cliente hablan constantemente. Las decisiones se toman en conjunto.</a:t>
            </a:r>
          </a:p>
          <a:p>
            <a:pPr marL="416052" indent="-288925" defTabSz="416052">
              <a:lnSpc>
                <a:spcPct val="120000"/>
              </a:lnSpc>
              <a:spcBef>
                <a:spcPts val="1000"/>
              </a:spcBef>
              <a:buSzPct val="100000"/>
              <a:buFont typeface="Times Roman"/>
              <a:defRPr b="0" spc="0" sz="3640">
                <a:latin typeface="Georgia"/>
                <a:ea typeface="Georgia"/>
                <a:cs typeface="Georgia"/>
                <a:sym typeface="Georgia"/>
              </a:defRPr>
            </a:pPr>
            <a:r>
              <a:rPr b="1"/>
              <a:t>Simplicidad:</a:t>
            </a:r>
            <a:r>
              <a:t> Se diseña y se programa </a:t>
            </a:r>
            <a:r>
              <a:rPr b="1"/>
              <a:t>solo lo que se necesita hoy</a:t>
            </a:r>
            <a:r>
              <a:t>, no lo que "tal vez" se necesite en seis meses. El código simple es más fácil de mantener y de cambiar.</a:t>
            </a:r>
          </a:p>
          <a:p>
            <a:pPr marL="416052" indent="-288925" defTabSz="416052">
              <a:lnSpc>
                <a:spcPct val="120000"/>
              </a:lnSpc>
              <a:spcBef>
                <a:spcPts val="1000"/>
              </a:spcBef>
              <a:buSzPct val="100000"/>
              <a:buFont typeface="Times Roman"/>
              <a:defRPr b="0" spc="0" sz="3640">
                <a:latin typeface="Georgia"/>
                <a:ea typeface="Georgia"/>
                <a:cs typeface="Georgia"/>
                <a:sym typeface="Georgia"/>
              </a:defRPr>
            </a:pPr>
            <a:r>
              <a:rPr b="1"/>
              <a:t>Retroalimentación (Feedback):</a:t>
            </a:r>
            <a:r>
              <a:t> El cliente ve avances constantemente y el equipo prueba el software todo el tiempo. Si algo está mal, se detecta y se corrige de inmediato.</a:t>
            </a:r>
          </a:p>
          <a:p>
            <a:pPr marL="416052" indent="-288925" defTabSz="416052">
              <a:lnSpc>
                <a:spcPct val="120000"/>
              </a:lnSpc>
              <a:spcBef>
                <a:spcPts val="1000"/>
              </a:spcBef>
              <a:buSzPct val="100000"/>
              <a:buFont typeface="Times Roman"/>
              <a:defRPr b="0" spc="0" sz="3640">
                <a:latin typeface="Georgia"/>
                <a:ea typeface="Georgia"/>
                <a:cs typeface="Georgia"/>
                <a:sym typeface="Georgia"/>
              </a:defRPr>
            </a:pPr>
            <a:r>
              <a:rPr b="1"/>
              <a:t>Respeto:</a:t>
            </a:r>
            <a:r>
              <a:t> Todos los miembros del equipo se respetan mutuamente. Nadie menosprecia el trabajo de otro y todos asumen la responsabilidad del éxito o fracaso del proyecto.</a:t>
            </a:r>
          </a:p>
          <a:p>
            <a:pPr marL="416052" indent="-288925" defTabSz="416052">
              <a:lnSpc>
                <a:spcPct val="120000"/>
              </a:lnSpc>
              <a:spcBef>
                <a:spcPts val="1000"/>
              </a:spcBef>
              <a:buSzPct val="100000"/>
              <a:buFont typeface="Times Roman"/>
              <a:defRPr b="0" spc="0" sz="3640">
                <a:latin typeface="Georgia"/>
                <a:ea typeface="Georgia"/>
                <a:cs typeface="Georgia"/>
                <a:sym typeface="Georgia"/>
              </a:defRPr>
            </a:pPr>
            <a:r>
              <a:rPr b="1"/>
              <a:t>Coraje (o Valentía):</a:t>
            </a:r>
            <a:r>
              <a:t> Tener el valor de decir la verdad sobre los tiempos de entrega, de desechar código que no funciona y de rehacer estructuras completas si es necesario (refactorización).</a:t>
            </a:r>
          </a:p>
        </p:txBody>
      </p:sp>
      <p:pic>
        <p:nvPicPr>
          <p:cNvPr id="183" name="Unknown.jpeg" descr="Unknown.jpeg"/>
          <p:cNvPicPr>
            <a:picLocks noChangeAspect="1"/>
          </p:cNvPicPr>
          <p:nvPr/>
        </p:nvPicPr>
        <p:blipFill>
          <a:blip r:embed="rId2">
            <a:extLst/>
          </a:blip>
          <a:stretch>
            <a:fillRect/>
          </a:stretch>
        </p:blipFill>
        <p:spPr>
          <a:xfrm>
            <a:off x="18389995" y="1543921"/>
            <a:ext cx="5454878" cy="3242935"/>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Los 5 Valores Fundamentales de XP…"/>
          <p:cNvSpPr txBox="1"/>
          <p:nvPr/>
        </p:nvSpPr>
        <p:spPr>
          <a:xfrm>
            <a:off x="1578427" y="577082"/>
            <a:ext cx="11970336" cy="168500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lnSpc>
                <a:spcPct val="80000"/>
              </a:lnSpc>
              <a:spcBef>
                <a:spcPts val="0"/>
              </a:spcBef>
              <a:defRPr b="1" spc="-114" sz="5700"/>
            </a:pPr>
            <a:r>
              <a:t>Los 5 Valores Fundamentales de XP</a:t>
            </a:r>
          </a:p>
          <a:p>
            <a:pPr algn="ctr">
              <a:lnSpc>
                <a:spcPct val="80000"/>
              </a:lnSpc>
              <a:spcBef>
                <a:spcPts val="0"/>
              </a:spcBef>
              <a:defRPr b="1" spc="-114" sz="5700"/>
            </a:pPr>
            <a:r>
              <a:t>(Extreme Programming)</a:t>
            </a:r>
          </a:p>
        </p:txBody>
      </p:sp>
      <p:sp>
        <p:nvSpPr>
          <p:cNvPr id="186" name="Comunicación…"/>
          <p:cNvSpPr txBox="1"/>
          <p:nvPr/>
        </p:nvSpPr>
        <p:spPr>
          <a:xfrm>
            <a:off x="1614908" y="3876906"/>
            <a:ext cx="4755506" cy="512039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889000" indent="-889000">
              <a:buSzPct val="100000"/>
              <a:buAutoNum type="arabicPeriod" startAt="1"/>
              <a:defRPr sz="4000">
                <a:latin typeface="Times New Roman"/>
                <a:ea typeface="Times New Roman"/>
                <a:cs typeface="Times New Roman"/>
                <a:sym typeface="Times New Roman"/>
              </a:defRPr>
            </a:pPr>
            <a:r>
              <a:t>Comunicación</a:t>
            </a:r>
          </a:p>
          <a:p>
            <a:pPr marL="889000" indent="-889000">
              <a:buSzPct val="100000"/>
              <a:buAutoNum type="arabicPeriod" startAt="1"/>
              <a:defRPr sz="4000">
                <a:latin typeface="Times New Roman"/>
                <a:ea typeface="Times New Roman"/>
                <a:cs typeface="Times New Roman"/>
                <a:sym typeface="Times New Roman"/>
              </a:defRPr>
            </a:pPr>
            <a:r>
              <a:t>Respeto</a:t>
            </a:r>
          </a:p>
          <a:p>
            <a:pPr marL="889000" indent="-889000">
              <a:buSzPct val="100000"/>
              <a:buAutoNum type="arabicPeriod" startAt="1"/>
              <a:defRPr sz="4000">
                <a:latin typeface="Times New Roman"/>
                <a:ea typeface="Times New Roman"/>
                <a:cs typeface="Times New Roman"/>
                <a:sym typeface="Times New Roman"/>
              </a:defRPr>
            </a:pPr>
            <a:r>
              <a:t>Simplicidad</a:t>
            </a:r>
          </a:p>
          <a:p>
            <a:pPr marL="889000" indent="-889000">
              <a:buSzPct val="100000"/>
              <a:buAutoNum type="arabicPeriod" startAt="1"/>
              <a:defRPr sz="4000">
                <a:latin typeface="Times New Roman"/>
                <a:ea typeface="Times New Roman"/>
                <a:cs typeface="Times New Roman"/>
                <a:sym typeface="Times New Roman"/>
              </a:defRPr>
            </a:pPr>
            <a:r>
              <a:t>Retroalimentación</a:t>
            </a:r>
          </a:p>
          <a:p>
            <a:pPr marL="889000" indent="-889000">
              <a:buSzPct val="100000"/>
              <a:buAutoNum type="arabicPeriod" startAt="1"/>
              <a:defRPr sz="4000">
                <a:latin typeface="Times New Roman"/>
                <a:ea typeface="Times New Roman"/>
                <a:cs typeface="Times New Roman"/>
                <a:sym typeface="Times New Roman"/>
              </a:defRPr>
            </a:pPr>
            <a:r>
              <a:t>Coraje - Valentia</a:t>
            </a:r>
          </a:p>
        </p:txBody>
      </p:sp>
      <p:pic>
        <p:nvPicPr>
          <p:cNvPr id="187" name="Image" descr="Image"/>
          <p:cNvPicPr>
            <a:picLocks noChangeAspect="1"/>
          </p:cNvPicPr>
          <p:nvPr/>
        </p:nvPicPr>
        <p:blipFill>
          <a:blip r:embed="rId2">
            <a:extLst/>
          </a:blip>
          <a:stretch>
            <a:fillRect/>
          </a:stretch>
        </p:blipFill>
        <p:spPr>
          <a:xfrm>
            <a:off x="7825501" y="2601407"/>
            <a:ext cx="16093626" cy="9201395"/>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Practicas Clave para Llevar el Código al Extremo"/>
          <p:cNvSpPr txBox="1"/>
          <p:nvPr>
            <p:ph type="subTitle" sz="quarter" idx="1"/>
          </p:nvPr>
        </p:nvSpPr>
        <p:spPr>
          <a:xfrm>
            <a:off x="1425821" y="393365"/>
            <a:ext cx="21971001" cy="1905001"/>
          </a:xfrm>
          <a:prstGeom prst="rect">
            <a:avLst/>
          </a:prstGeom>
        </p:spPr>
        <p:txBody>
          <a:bodyPr anchor="ctr"/>
          <a:lstStyle>
            <a:lvl1pPr algn="ctr"/>
          </a:lstStyle>
          <a:p>
            <a:pPr/>
            <a:r>
              <a:t>Practicas Clave para Llevar el Código al Extremo</a:t>
            </a:r>
          </a:p>
        </p:txBody>
      </p:sp>
      <p:sp>
        <p:nvSpPr>
          <p:cNvPr id="190" name="El navegador"/>
          <p:cNvSpPr txBox="1"/>
          <p:nvPr/>
        </p:nvSpPr>
        <p:spPr>
          <a:xfrm>
            <a:off x="4176912" y="5731963"/>
            <a:ext cx="3056385" cy="68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Georgia"/>
                <a:ea typeface="Georgia"/>
                <a:cs typeface="Georgia"/>
                <a:sym typeface="Georgia"/>
              </a:defRPr>
            </a:lvl1pPr>
          </a:lstStyle>
          <a:p>
            <a:pPr/>
            <a:r>
              <a:t>El navegador</a:t>
            </a:r>
          </a:p>
        </p:txBody>
      </p:sp>
      <p:sp>
        <p:nvSpPr>
          <p:cNvPr id="191" name="Programación en Parejas"/>
          <p:cNvSpPr txBox="1"/>
          <p:nvPr/>
        </p:nvSpPr>
        <p:spPr>
          <a:xfrm>
            <a:off x="1209113" y="2982584"/>
            <a:ext cx="5719912" cy="68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Georgia"/>
                <a:ea typeface="Georgia"/>
                <a:cs typeface="Georgia"/>
                <a:sym typeface="Georgia"/>
              </a:defRPr>
            </a:lvl1pPr>
          </a:lstStyle>
          <a:p>
            <a:pPr/>
            <a:r>
              <a:t>Programación en Parejas</a:t>
            </a:r>
          </a:p>
        </p:txBody>
      </p:sp>
      <p:sp>
        <p:nvSpPr>
          <p:cNvPr id="192" name="Desarrollo Guiado por Pruebas (TDD)…"/>
          <p:cNvSpPr txBox="1"/>
          <p:nvPr/>
        </p:nvSpPr>
        <p:spPr>
          <a:xfrm>
            <a:off x="7675535" y="2361631"/>
            <a:ext cx="8635703" cy="288036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defRPr sz="4000">
                <a:latin typeface="Georgia"/>
                <a:ea typeface="Georgia"/>
                <a:cs typeface="Georgia"/>
                <a:sym typeface="Georgia"/>
              </a:defRPr>
            </a:pPr>
            <a:r>
              <a:t>Desarrollo Guiado por Pruebas (TDD)</a:t>
            </a:r>
          </a:p>
          <a:p>
            <a:pPr algn="ctr">
              <a:defRPr sz="4000">
                <a:latin typeface="Georgia"/>
                <a:ea typeface="Georgia"/>
                <a:cs typeface="Georgia"/>
                <a:sym typeface="Georgia"/>
              </a:defRPr>
            </a:pPr>
            <a:r>
              <a:t>Test Driven Development</a:t>
            </a:r>
          </a:p>
        </p:txBody>
      </p:sp>
      <p:sp>
        <p:nvSpPr>
          <p:cNvPr id="193" name="Integración Continua"/>
          <p:cNvSpPr txBox="1"/>
          <p:nvPr/>
        </p:nvSpPr>
        <p:spPr>
          <a:xfrm>
            <a:off x="17717157" y="2982584"/>
            <a:ext cx="4904830" cy="68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Georgia"/>
                <a:ea typeface="Georgia"/>
                <a:cs typeface="Georgia"/>
                <a:sym typeface="Georgia"/>
              </a:defRPr>
            </a:lvl1pPr>
          </a:lstStyle>
          <a:p>
            <a:pPr/>
            <a:r>
              <a:t>Integración Continua</a:t>
            </a:r>
          </a:p>
        </p:txBody>
      </p:sp>
      <p:sp>
        <p:nvSpPr>
          <p:cNvPr id="194" name="El conductor"/>
          <p:cNvSpPr txBox="1"/>
          <p:nvPr/>
        </p:nvSpPr>
        <p:spPr>
          <a:xfrm>
            <a:off x="617077" y="5731963"/>
            <a:ext cx="2990652" cy="68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Georgia"/>
                <a:ea typeface="Georgia"/>
                <a:cs typeface="Georgia"/>
                <a:sym typeface="Georgia"/>
              </a:defRPr>
            </a:lvl1pPr>
          </a:lstStyle>
          <a:p>
            <a:pPr/>
            <a:r>
              <a:t>El conductor</a:t>
            </a:r>
          </a:p>
        </p:txBody>
      </p:sp>
      <p:sp>
        <p:nvSpPr>
          <p:cNvPr id="195" name="Propiedad Colectiva del Código"/>
          <p:cNvSpPr txBox="1"/>
          <p:nvPr/>
        </p:nvSpPr>
        <p:spPr>
          <a:xfrm>
            <a:off x="8356175" y="8499937"/>
            <a:ext cx="7107487" cy="68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Georgia"/>
                <a:ea typeface="Georgia"/>
                <a:cs typeface="Georgia"/>
                <a:sym typeface="Georgia"/>
              </a:defRPr>
            </a:lvl1pPr>
          </a:lstStyle>
          <a:p>
            <a:pPr/>
            <a:r>
              <a:t>Propiedad Colectiva del Código</a:t>
            </a:r>
          </a:p>
        </p:txBody>
      </p:sp>
      <p:sp>
        <p:nvSpPr>
          <p:cNvPr id="196" name="El cliente en el sitio"/>
          <p:cNvSpPr txBox="1"/>
          <p:nvPr/>
        </p:nvSpPr>
        <p:spPr>
          <a:xfrm>
            <a:off x="17624170" y="8565612"/>
            <a:ext cx="4476206" cy="68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atin typeface="Georgia"/>
                <a:ea typeface="Georgia"/>
                <a:cs typeface="Georgia"/>
                <a:sym typeface="Georgia"/>
              </a:defRPr>
            </a:lvl1pPr>
          </a:lstStyle>
          <a:p>
            <a:pPr/>
            <a:r>
              <a:t>El cliente en el sitio</a:t>
            </a:r>
          </a:p>
        </p:txBody>
      </p:sp>
      <p:sp>
        <p:nvSpPr>
          <p:cNvPr id="197" name="Rounded Rectangle"/>
          <p:cNvSpPr/>
          <p:nvPr/>
        </p:nvSpPr>
        <p:spPr>
          <a:xfrm>
            <a:off x="683413" y="2449221"/>
            <a:ext cx="6509942" cy="1762981"/>
          </a:xfrm>
          <a:prstGeom prst="roundRect">
            <a:avLst>
              <a:gd name="adj" fmla="val 15000"/>
            </a:avLst>
          </a:prstGeom>
          <a:solidFill>
            <a:schemeClr val="accent4">
              <a:hueOff val="-476017"/>
              <a:lumOff val="-10042"/>
              <a:alpha val="25706"/>
            </a:schemeClr>
          </a:solidFill>
          <a:ln w="12700">
            <a:miter lim="400000"/>
          </a:ln>
          <a:effectLst>
            <a:reflection blurRad="0" stA="30329" stPos="0" endA="0" endPos="40000" dist="0" dir="5400000" fadeDir="5400000" sx="100000" sy="-100000" kx="0" ky="0" algn="bl" rotWithShape="0"/>
          </a:effectLst>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198" name="Rounded Rectangle"/>
          <p:cNvSpPr/>
          <p:nvPr/>
        </p:nvSpPr>
        <p:spPr>
          <a:xfrm>
            <a:off x="16607302" y="2449221"/>
            <a:ext cx="6509942" cy="1762981"/>
          </a:xfrm>
          <a:prstGeom prst="roundRect">
            <a:avLst>
              <a:gd name="adj" fmla="val 15000"/>
            </a:avLst>
          </a:prstGeom>
          <a:solidFill>
            <a:schemeClr val="accent4">
              <a:hueOff val="-476017"/>
              <a:lumOff val="-10042"/>
              <a:alpha val="30043"/>
            </a:schemeClr>
          </a:solidFill>
          <a:ln w="12700">
            <a:miter lim="400000"/>
          </a:ln>
          <a:effectLst>
            <a:reflection blurRad="0" stA="21973" stPos="0" endA="0" endPos="40000" dist="0" dir="5400000" fadeDir="5400000" sx="100000" sy="-100000" kx="0" ky="0" algn="bl" rotWithShape="0"/>
          </a:effectLst>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199" name="Rounded Rectangle"/>
          <p:cNvSpPr/>
          <p:nvPr/>
        </p:nvSpPr>
        <p:spPr>
          <a:xfrm>
            <a:off x="7544850" y="2254436"/>
            <a:ext cx="8766388" cy="2142097"/>
          </a:xfrm>
          <a:prstGeom prst="roundRect">
            <a:avLst>
              <a:gd name="adj" fmla="val 15267"/>
            </a:avLst>
          </a:prstGeom>
          <a:solidFill>
            <a:schemeClr val="accent4">
              <a:hueOff val="-476017"/>
              <a:lumOff val="-10042"/>
              <a:alpha val="26610"/>
            </a:schemeClr>
          </a:solidFill>
          <a:ln w="12700">
            <a:miter lim="400000"/>
          </a:ln>
          <a:effectLst>
            <a:reflection blurRad="0" stA="43913" stPos="0" endA="0" endPos="40000" dist="0" dir="5400000" fadeDir="5400000" sx="100000" sy="-100000" kx="0" ky="0" algn="bl" rotWithShape="0"/>
          </a:effectLst>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00" name="Rounded Rectangle"/>
          <p:cNvSpPr/>
          <p:nvPr/>
        </p:nvSpPr>
        <p:spPr>
          <a:xfrm>
            <a:off x="16662733" y="8021795"/>
            <a:ext cx="6509941" cy="1762981"/>
          </a:xfrm>
          <a:prstGeom prst="roundRect">
            <a:avLst>
              <a:gd name="adj" fmla="val 15000"/>
            </a:avLst>
          </a:prstGeom>
          <a:solidFill>
            <a:srgbClr val="60D937">
              <a:alpha val="32150"/>
            </a:srgbClr>
          </a:solidFill>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01" name="Rounded Rectangle"/>
          <p:cNvSpPr/>
          <p:nvPr/>
        </p:nvSpPr>
        <p:spPr>
          <a:xfrm>
            <a:off x="307938" y="5595566"/>
            <a:ext cx="3608930" cy="5107599"/>
          </a:xfrm>
          <a:prstGeom prst="roundRect">
            <a:avLst>
              <a:gd name="adj" fmla="val 7328"/>
            </a:avLst>
          </a:prstGeom>
          <a:solidFill>
            <a:srgbClr val="ED220D">
              <a:alpha val="34938"/>
            </a:srgbClr>
          </a:solidFill>
          <a:ln w="12700">
            <a:miter lim="400000"/>
          </a:ln>
          <a:effectLst>
            <a:reflection blurRad="0" stA="25986" stPos="0" endA="0" endPos="40000" dist="0" dir="5400000" fadeDir="5400000" sx="100000" sy="-100000" kx="0" ky="0" algn="bl" rotWithShape="0"/>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02" name="Rounded Rectangle"/>
          <p:cNvSpPr/>
          <p:nvPr/>
        </p:nvSpPr>
        <p:spPr>
          <a:xfrm>
            <a:off x="8047204" y="7961347"/>
            <a:ext cx="7725429" cy="1762981"/>
          </a:xfrm>
          <a:prstGeom prst="roundRect">
            <a:avLst>
              <a:gd name="adj" fmla="val 15000"/>
            </a:avLst>
          </a:prstGeom>
          <a:solidFill>
            <a:srgbClr val="60D937">
              <a:alpha val="35362"/>
            </a:srgbClr>
          </a:solidFill>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03" name="Rounded Rectangle"/>
          <p:cNvSpPr/>
          <p:nvPr/>
        </p:nvSpPr>
        <p:spPr>
          <a:xfrm>
            <a:off x="4067930" y="5595566"/>
            <a:ext cx="3608930" cy="5107599"/>
          </a:xfrm>
          <a:prstGeom prst="roundRect">
            <a:avLst>
              <a:gd name="adj" fmla="val 7328"/>
            </a:avLst>
          </a:prstGeom>
          <a:solidFill>
            <a:srgbClr val="ED220D">
              <a:alpha val="33870"/>
            </a:srgbClr>
          </a:solidFill>
          <a:ln w="12700">
            <a:miter lim="400000"/>
          </a:ln>
          <a:effectLst>
            <a:reflection blurRad="0" stA="21626" stPos="0" endA="0" endPos="40000" dist="0" dir="5400000" fadeDir="5400000" sx="100000" sy="-100000" kx="0" ky="0" algn="bl" rotWithShape="0"/>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04" name="Driver…"/>
          <p:cNvSpPr txBox="1"/>
          <p:nvPr/>
        </p:nvSpPr>
        <p:spPr>
          <a:xfrm>
            <a:off x="164477" y="6646160"/>
            <a:ext cx="3752391" cy="3365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defTabSz="457200">
              <a:lnSpc>
                <a:spcPct val="100000"/>
              </a:lnSpc>
              <a:spcBef>
                <a:spcPts val="1200"/>
              </a:spcBef>
              <a:defRPr b="1" sz="3100" u="sng">
                <a:latin typeface="Georgia"/>
                <a:ea typeface="Georgia"/>
                <a:cs typeface="Georgia"/>
                <a:sym typeface="Georgia"/>
              </a:defRPr>
            </a:pPr>
            <a:r>
              <a:t>Driver</a:t>
            </a:r>
          </a:p>
          <a:p>
            <a:pPr algn="ctr" defTabSz="457200">
              <a:lnSpc>
                <a:spcPct val="100000"/>
              </a:lnSpc>
              <a:spcBef>
                <a:spcPts val="1200"/>
              </a:spcBef>
              <a:defRPr sz="3100">
                <a:latin typeface="Georgia"/>
                <a:ea typeface="Georgia"/>
                <a:cs typeface="Georgia"/>
                <a:sym typeface="Georgia"/>
              </a:defRPr>
            </a:pPr>
            <a:r>
              <a:t>Es quien tiene las manos en el teclado y se enfoca en escribir el código limpio en el momento.</a:t>
            </a:r>
          </a:p>
        </p:txBody>
      </p:sp>
      <p:sp>
        <p:nvSpPr>
          <p:cNvPr id="205" name="Navigator…"/>
          <p:cNvSpPr txBox="1"/>
          <p:nvPr/>
        </p:nvSpPr>
        <p:spPr>
          <a:xfrm>
            <a:off x="4061542" y="6651387"/>
            <a:ext cx="3608930" cy="3810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defTabSz="457200">
              <a:lnSpc>
                <a:spcPct val="100000"/>
              </a:lnSpc>
              <a:spcBef>
                <a:spcPts val="1200"/>
              </a:spcBef>
              <a:defRPr sz="3100" u="sng">
                <a:latin typeface="Georgia"/>
                <a:ea typeface="Georgia"/>
                <a:cs typeface="Georgia"/>
                <a:sym typeface="Georgia"/>
              </a:defRPr>
            </a:pPr>
            <a:r>
              <a:rPr b="1"/>
              <a:t>Navigator</a:t>
            </a:r>
            <a:endParaRPr b="1"/>
          </a:p>
          <a:p>
            <a:pPr algn="ctr" defTabSz="457200">
              <a:lnSpc>
                <a:spcPct val="100000"/>
              </a:lnSpc>
              <a:spcBef>
                <a:spcPts val="1200"/>
              </a:spcBef>
              <a:defRPr sz="3100">
                <a:latin typeface="Georgia"/>
                <a:ea typeface="Georgia"/>
                <a:cs typeface="Georgia"/>
                <a:sym typeface="Georgia"/>
              </a:defRPr>
            </a:pPr>
            <a:r>
              <a:t>Observa, guía el camino, piensa en el diseño general, busca errores y se asegura de que no se desvíen del objetivo.</a:t>
            </a:r>
          </a:p>
        </p:txBody>
      </p:sp>
      <p:sp>
        <p:nvSpPr>
          <p:cNvPr id="206" name="Rounded Rectangle"/>
          <p:cNvSpPr/>
          <p:nvPr/>
        </p:nvSpPr>
        <p:spPr>
          <a:xfrm>
            <a:off x="8130672" y="4758490"/>
            <a:ext cx="7725430" cy="2717016"/>
          </a:xfrm>
          <a:prstGeom prst="roundRect">
            <a:avLst>
              <a:gd name="adj" fmla="val 9733"/>
            </a:avLst>
          </a:prstGeom>
          <a:solidFill>
            <a:srgbClr val="00A1FF">
              <a:alpha val="19585"/>
            </a:srgbClr>
          </a:solidFill>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07" name="Primero escribes una prueba automatizada que falle (porque la función aún no existe).…"/>
          <p:cNvSpPr txBox="1"/>
          <p:nvPr/>
        </p:nvSpPr>
        <p:spPr>
          <a:xfrm>
            <a:off x="8428937" y="4770798"/>
            <a:ext cx="6961964" cy="2692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457200" indent="-317500" defTabSz="457200">
              <a:lnSpc>
                <a:spcPct val="100000"/>
              </a:lnSpc>
              <a:spcBef>
                <a:spcPts val="1200"/>
              </a:spcBef>
              <a:buSzPct val="100000"/>
              <a:buFont typeface="Times Roman"/>
              <a:buAutoNum type="arabicPeriod" startAt="1"/>
              <a:defRPr sz="2600">
                <a:latin typeface="Georgia"/>
                <a:ea typeface="Georgia"/>
                <a:cs typeface="Georgia"/>
                <a:sym typeface="Georgia"/>
              </a:defRPr>
            </a:pPr>
            <a:r>
              <a:t>Primero escribes una prueba automatizada que falle (porque la función aún no existe).</a:t>
            </a:r>
          </a:p>
          <a:p>
            <a:pPr marL="457200" indent="-317500" defTabSz="457200">
              <a:lnSpc>
                <a:spcPct val="100000"/>
              </a:lnSpc>
              <a:spcBef>
                <a:spcPts val="1200"/>
              </a:spcBef>
              <a:buSzPct val="100000"/>
              <a:buFont typeface="Times Roman"/>
              <a:buAutoNum type="arabicPeriod" startAt="1"/>
              <a:defRPr sz="2600">
                <a:latin typeface="Georgia"/>
                <a:ea typeface="Georgia"/>
                <a:cs typeface="Georgia"/>
                <a:sym typeface="Georgia"/>
              </a:defRPr>
            </a:pPr>
            <a:r>
              <a:t>Luego escribes el código mínimo necesario para que la prueba pase.</a:t>
            </a:r>
          </a:p>
          <a:p>
            <a:pPr marL="457200" indent="-317500" defTabSz="457200">
              <a:lnSpc>
                <a:spcPct val="100000"/>
              </a:lnSpc>
              <a:spcBef>
                <a:spcPts val="1200"/>
              </a:spcBef>
              <a:buSzPct val="100000"/>
              <a:buFont typeface="Times Roman"/>
              <a:buAutoNum type="arabicPeriod" startAt="1"/>
              <a:defRPr sz="2600">
                <a:latin typeface="Georgia"/>
                <a:ea typeface="Georgia"/>
                <a:cs typeface="Georgia"/>
                <a:sym typeface="Georgia"/>
              </a:defRPr>
            </a:pPr>
            <a:r>
              <a:t>Finalmente, limpias y optimizas ese código (refactorización).</a:t>
            </a:r>
          </a:p>
        </p:txBody>
      </p:sp>
      <p:sp>
        <p:nvSpPr>
          <p:cNvPr id="208" name="Los desarrolladores no guardan sus cambios para el final de la semana. En XP, el código se sube al repositorio central (como GitHub) varias veces al día. Cada vez que se sube, se ejecutan las pruebas automatizadas para asegurar que nadie rompió el sistem"/>
          <p:cNvSpPr txBox="1"/>
          <p:nvPr/>
        </p:nvSpPr>
        <p:spPr>
          <a:xfrm>
            <a:off x="17002317" y="4440598"/>
            <a:ext cx="5719912" cy="3352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defTabSz="457200">
              <a:lnSpc>
                <a:spcPct val="100000"/>
              </a:lnSpc>
              <a:spcBef>
                <a:spcPts val="1200"/>
              </a:spcBef>
              <a:defRPr sz="2800">
                <a:latin typeface="Georgia"/>
                <a:ea typeface="Georgia"/>
                <a:cs typeface="Georgia"/>
                <a:sym typeface="Georgia"/>
              </a:defRPr>
            </a:pPr>
            <a:r>
              <a:t>Los desarrolladores no guardan sus cambios para el final de la semana. En XP, el código se sube al repositorio central (como GitHub) </a:t>
            </a:r>
            <a:r>
              <a:rPr b="1"/>
              <a:t>varias veces al día</a:t>
            </a:r>
            <a:r>
              <a:t>. Cada vez que se sube, se ejecutan las pruebas automatizadas para asegurar que nadie rompió el sistema.</a:t>
            </a:r>
          </a:p>
        </p:txBody>
      </p:sp>
      <p:sp>
        <p:nvSpPr>
          <p:cNvPr id="209" name="Rounded Rectangle"/>
          <p:cNvSpPr/>
          <p:nvPr/>
        </p:nvSpPr>
        <p:spPr>
          <a:xfrm>
            <a:off x="16589971" y="4347376"/>
            <a:ext cx="6509942" cy="3440796"/>
          </a:xfrm>
          <a:prstGeom prst="roundRect">
            <a:avLst>
              <a:gd name="adj" fmla="val 7686"/>
            </a:avLst>
          </a:prstGeom>
          <a:solidFill>
            <a:srgbClr val="00A1FF">
              <a:alpha val="19585"/>
            </a:srgbClr>
          </a:solidFill>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10" name="El código no le pertenece a la persona que lo escribió; le pertenece a todo el equipo. Cualquiera puede revisar, mejorar o corregir cualquier parte del sistema en cualquier momento. Esto evita que el proyecto se detenga si alguien se enferma o se va."/>
          <p:cNvSpPr txBox="1"/>
          <p:nvPr/>
        </p:nvSpPr>
        <p:spPr>
          <a:xfrm>
            <a:off x="8374301" y="10222476"/>
            <a:ext cx="7107486" cy="2387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defTabSz="457200">
              <a:lnSpc>
                <a:spcPct val="100000"/>
              </a:lnSpc>
              <a:spcBef>
                <a:spcPts val="1200"/>
              </a:spcBef>
              <a:defRPr sz="2600">
                <a:latin typeface="Georgia"/>
                <a:ea typeface="Georgia"/>
                <a:cs typeface="Georgia"/>
                <a:sym typeface="Georgia"/>
              </a:defRPr>
            </a:pPr>
            <a:r>
              <a:t>El código no le pertenece a la persona que lo escribió; </a:t>
            </a:r>
            <a:r>
              <a:rPr b="1"/>
              <a:t>le pertenece a todo el equipo</a:t>
            </a:r>
            <a:r>
              <a:t>. Cualquiera puede revisar, mejorar o corregir cualquier parte del sistema en cualquier momento. Esto evita que el proyecto se detenga si alguien se enferma o se va.</a:t>
            </a:r>
          </a:p>
        </p:txBody>
      </p:sp>
      <p:sp>
        <p:nvSpPr>
          <p:cNvPr id="211" name="Rounded Rectangle"/>
          <p:cNvSpPr/>
          <p:nvPr/>
        </p:nvSpPr>
        <p:spPr>
          <a:xfrm>
            <a:off x="7987567" y="10028689"/>
            <a:ext cx="8011640" cy="2694243"/>
          </a:xfrm>
          <a:prstGeom prst="roundRect">
            <a:avLst>
              <a:gd name="adj" fmla="val 10348"/>
            </a:avLst>
          </a:prstGeom>
          <a:solidFill>
            <a:schemeClr val="accent6">
              <a:alpha val="24605"/>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12" name="XP requiere que un representante del cliente (o alguien que conozca perfectamente el negocio) esté disponible todo el tiempo para responder preguntas del equipo de desarrollo, definir prioridades y probar las funciones apenas se terminen."/>
          <p:cNvSpPr txBox="1"/>
          <p:nvPr/>
        </p:nvSpPr>
        <p:spPr>
          <a:xfrm>
            <a:off x="16704288" y="9987527"/>
            <a:ext cx="6509942" cy="285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defTabSz="457200">
              <a:lnSpc>
                <a:spcPct val="100000"/>
              </a:lnSpc>
              <a:spcBef>
                <a:spcPts val="1200"/>
              </a:spcBef>
              <a:defRPr sz="2700">
                <a:latin typeface="Georgia"/>
                <a:ea typeface="Georgia"/>
                <a:cs typeface="Georgia"/>
                <a:sym typeface="Georgia"/>
              </a:defRPr>
            </a:lvl1pPr>
          </a:lstStyle>
          <a:p>
            <a:pPr/>
            <a:r>
              <a:t>XP requiere que un representante del cliente (o alguien que conozca perfectamente el negocio) esté disponible todo el tiempo para responder preguntas del equipo de desarrollo, definir prioridades y probar las funciones apenas se terminen.</a:t>
            </a:r>
          </a:p>
        </p:txBody>
      </p:sp>
      <p:sp>
        <p:nvSpPr>
          <p:cNvPr id="213" name="Rounded Rectangle"/>
          <p:cNvSpPr/>
          <p:nvPr/>
        </p:nvSpPr>
        <p:spPr>
          <a:xfrm>
            <a:off x="16476098" y="9935630"/>
            <a:ext cx="6966323" cy="2880361"/>
          </a:xfrm>
          <a:prstGeom prst="roundRect">
            <a:avLst>
              <a:gd name="adj" fmla="val 10253"/>
            </a:avLst>
          </a:prstGeom>
          <a:solidFill>
            <a:schemeClr val="accent6">
              <a:alpha val="26876"/>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15" name="Table 1"/>
          <p:cNvGraphicFramePr/>
          <p:nvPr/>
        </p:nvGraphicFramePr>
        <p:xfrm>
          <a:off x="6705600" y="2736344"/>
          <a:ext cx="10985500" cy="825601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743200"/>
                <a:gridCol w="2743200"/>
                <a:gridCol w="2743200"/>
                <a:gridCol w="2743200"/>
              </a:tblGrid>
              <a:tr h="2747770">
                <a:tc>
                  <a:txBody>
                    <a:bodyPr/>
                    <a:lstStyle/>
                    <a:p>
                      <a:pPr defTabSz="914400">
                        <a:defRPr sz="3200"/>
                      </a:pPr>
                    </a:p>
                  </a:txBody>
                  <a:tcPr marL="50800" marR="50800" marT="50800" marB="50800" anchor="ctr" anchorCtr="0" horzOverflow="overflow">
                    <a:lnL w="12700">
                      <a:solidFill>
                        <a:schemeClr val="accent3"/>
                      </a:solidFill>
                      <a:miter lim="400000"/>
                    </a:lnL>
                    <a:lnR w="12700">
                      <a:solidFill>
                        <a:schemeClr val="accent2"/>
                      </a:solidFill>
                      <a:miter lim="400000"/>
                    </a:lnR>
                    <a:lnT w="12700">
                      <a:solidFill>
                        <a:schemeClr val="accent3"/>
                      </a:solidFill>
                      <a:miter lim="400000"/>
                    </a:lnT>
                    <a:lnB w="12700">
                      <a:solidFill>
                        <a:schemeClr val="accent2"/>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2"/>
                      </a:solidFill>
                      <a:miter lim="400000"/>
                    </a:lnR>
                    <a:lnT w="12700">
                      <a:solidFill>
                        <a:schemeClr val="accent3"/>
                      </a:solidFill>
                      <a:miter lim="400000"/>
                    </a:lnT>
                    <a:lnB w="12700">
                      <a:solidFill>
                        <a:schemeClr val="accent2"/>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2"/>
                      </a:solidFill>
                      <a:miter lim="400000"/>
                    </a:lnR>
                    <a:lnT w="12700">
                      <a:solidFill>
                        <a:schemeClr val="accent3"/>
                      </a:solidFill>
                      <a:miter lim="400000"/>
                    </a:lnT>
                    <a:lnB w="12700">
                      <a:solidFill>
                        <a:schemeClr val="accent2"/>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3"/>
                      </a:solidFill>
                      <a:miter lim="400000"/>
                    </a:lnR>
                    <a:lnT w="12700">
                      <a:solidFill>
                        <a:schemeClr val="accent3"/>
                      </a:solidFill>
                      <a:miter lim="400000"/>
                    </a:lnT>
                    <a:lnB w="12700">
                      <a:solidFill>
                        <a:schemeClr val="accent2"/>
                      </a:solidFill>
                      <a:miter lim="400000"/>
                    </a:lnB>
                    <a:solidFill>
                      <a:srgbClr val="FFFFFF"/>
                    </a:solidFill>
                  </a:tcPr>
                </a:tc>
              </a:tr>
              <a:tr h="2747770">
                <a:tc>
                  <a:txBody>
                    <a:bodyPr/>
                    <a:lstStyle/>
                    <a:p>
                      <a:pPr defTabSz="914400">
                        <a:defRPr sz="3200"/>
                      </a:pPr>
                    </a:p>
                  </a:txBody>
                  <a:tcPr marL="50800" marR="50800" marT="50800" marB="50800" anchor="ctr" anchorCtr="0" horzOverflow="overflow">
                    <a:lnL w="12700">
                      <a:solidFill>
                        <a:schemeClr val="accent3"/>
                      </a:solidFill>
                      <a:miter lim="400000"/>
                    </a:lnL>
                    <a:lnR w="12700">
                      <a:solidFill>
                        <a:schemeClr val="accent2"/>
                      </a:solidFill>
                      <a:miter lim="400000"/>
                    </a:lnR>
                    <a:lnT w="12700">
                      <a:solidFill>
                        <a:schemeClr val="accent2"/>
                      </a:solidFill>
                      <a:miter lim="400000"/>
                    </a:lnT>
                    <a:lnB w="12700">
                      <a:solidFill>
                        <a:schemeClr val="accent2"/>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2"/>
                      </a:solidFill>
                      <a:miter lim="400000"/>
                    </a:lnR>
                    <a:lnT w="12700">
                      <a:solidFill>
                        <a:schemeClr val="accent2"/>
                      </a:solidFill>
                      <a:miter lim="400000"/>
                    </a:lnT>
                    <a:lnB w="12700">
                      <a:solidFill>
                        <a:schemeClr val="accent2"/>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2"/>
                      </a:solidFill>
                      <a:miter lim="400000"/>
                    </a:lnR>
                    <a:lnT w="12700">
                      <a:solidFill>
                        <a:schemeClr val="accent2"/>
                      </a:solidFill>
                      <a:miter lim="400000"/>
                    </a:lnT>
                    <a:lnB w="12700">
                      <a:solidFill>
                        <a:schemeClr val="accent2"/>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3"/>
                      </a:solidFill>
                      <a:miter lim="400000"/>
                    </a:lnR>
                    <a:lnT w="12700">
                      <a:solidFill>
                        <a:schemeClr val="accent2"/>
                      </a:solidFill>
                      <a:miter lim="400000"/>
                    </a:lnT>
                    <a:lnB w="12700">
                      <a:solidFill>
                        <a:schemeClr val="accent2"/>
                      </a:solidFill>
                      <a:miter lim="400000"/>
                    </a:lnB>
                    <a:solidFill>
                      <a:srgbClr val="FFFFFF"/>
                    </a:solidFill>
                  </a:tcPr>
                </a:tc>
              </a:tr>
              <a:tr h="2747770">
                <a:tc>
                  <a:txBody>
                    <a:bodyPr/>
                    <a:lstStyle/>
                    <a:p>
                      <a:pPr defTabSz="914400">
                        <a:defRPr sz="3200"/>
                      </a:pPr>
                    </a:p>
                  </a:txBody>
                  <a:tcPr marL="50800" marR="50800" marT="50800" marB="50800" anchor="ctr" anchorCtr="0" horzOverflow="overflow">
                    <a:lnL w="12700">
                      <a:solidFill>
                        <a:schemeClr val="accent3"/>
                      </a:solidFill>
                      <a:miter lim="400000"/>
                    </a:lnL>
                    <a:lnR w="12700">
                      <a:solidFill>
                        <a:schemeClr val="accent2"/>
                      </a:solidFill>
                      <a:miter lim="400000"/>
                    </a:lnR>
                    <a:lnT w="12700">
                      <a:solidFill>
                        <a:schemeClr val="accent2"/>
                      </a:solidFill>
                      <a:miter lim="400000"/>
                    </a:lnT>
                    <a:lnB w="12700">
                      <a:solidFill>
                        <a:schemeClr val="accent3"/>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2"/>
                      </a:solidFill>
                      <a:miter lim="400000"/>
                    </a:lnR>
                    <a:lnT w="12700">
                      <a:solidFill>
                        <a:schemeClr val="accent2"/>
                      </a:solidFill>
                      <a:miter lim="400000"/>
                    </a:lnT>
                    <a:lnB w="12700">
                      <a:solidFill>
                        <a:schemeClr val="accent3"/>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2"/>
                      </a:solidFill>
                      <a:miter lim="400000"/>
                    </a:lnR>
                    <a:lnT w="12700">
                      <a:solidFill>
                        <a:schemeClr val="accent2"/>
                      </a:solidFill>
                      <a:miter lim="400000"/>
                    </a:lnT>
                    <a:lnB w="12700">
                      <a:solidFill>
                        <a:schemeClr val="accent3"/>
                      </a:solidFill>
                      <a:miter lim="400000"/>
                    </a:lnB>
                    <a:solidFill>
                      <a:srgbClr val="FFFFFF"/>
                    </a:solidFill>
                  </a:tcPr>
                </a:tc>
                <a:tc>
                  <a:txBody>
                    <a:bodyPr/>
                    <a:lstStyle/>
                    <a:p>
                      <a:pPr defTabSz="914400">
                        <a:defRPr sz="3200"/>
                      </a:pPr>
                    </a:p>
                  </a:txBody>
                  <a:tcPr marL="50800" marR="50800" marT="50800" marB="50800" anchor="ctr" anchorCtr="0" horzOverflow="overflow">
                    <a:lnL w="12700">
                      <a:solidFill>
                        <a:schemeClr val="accent2"/>
                      </a:solidFill>
                      <a:miter lim="400000"/>
                    </a:lnL>
                    <a:lnR w="12700">
                      <a:solidFill>
                        <a:schemeClr val="accent3"/>
                      </a:solidFill>
                      <a:miter lim="400000"/>
                    </a:lnR>
                    <a:lnT w="12700">
                      <a:solidFill>
                        <a:schemeClr val="accent2"/>
                      </a:solidFill>
                      <a:miter lim="400000"/>
                    </a:lnT>
                    <a:lnB w="12700">
                      <a:solidFill>
                        <a:schemeClr val="accent3"/>
                      </a:solidFill>
                      <a:miter lim="400000"/>
                    </a:lnB>
                    <a:solidFill>
                      <a:srgbClr val="FFFFFF"/>
                    </a:solidFill>
                  </a:tcPr>
                </a:tc>
              </a:tr>
            </a:tbl>
          </a:graphicData>
        </a:graphic>
      </p:graphicFrame>
      <p:sp>
        <p:nvSpPr>
          <p:cNvPr id="216" name="1"/>
          <p:cNvSpPr txBox="1"/>
          <p:nvPr/>
        </p:nvSpPr>
        <p:spPr>
          <a:xfrm>
            <a:off x="7885581" y="3621202"/>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1</a:t>
            </a:r>
          </a:p>
        </p:txBody>
      </p:sp>
      <p:sp>
        <p:nvSpPr>
          <p:cNvPr id="217" name="2"/>
          <p:cNvSpPr txBox="1"/>
          <p:nvPr/>
        </p:nvSpPr>
        <p:spPr>
          <a:xfrm>
            <a:off x="10622146" y="3621202"/>
            <a:ext cx="453238"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lumOff val="-13575"/>
                  </a:schemeClr>
                </a:solidFill>
              </a:defRPr>
            </a:lvl1pPr>
          </a:lstStyle>
          <a:p>
            <a:pPr/>
            <a:r>
              <a:t>2</a:t>
            </a:r>
          </a:p>
        </p:txBody>
      </p:sp>
      <p:sp>
        <p:nvSpPr>
          <p:cNvPr id="218" name="3"/>
          <p:cNvSpPr txBox="1"/>
          <p:nvPr/>
        </p:nvSpPr>
        <p:spPr>
          <a:xfrm>
            <a:off x="13358711" y="3621202"/>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3</a:t>
            </a:r>
          </a:p>
        </p:txBody>
      </p:sp>
      <p:sp>
        <p:nvSpPr>
          <p:cNvPr id="219" name="4"/>
          <p:cNvSpPr txBox="1"/>
          <p:nvPr/>
        </p:nvSpPr>
        <p:spPr>
          <a:xfrm>
            <a:off x="16095276" y="3621202"/>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3"/>
                </a:solidFill>
              </a:defRPr>
            </a:lvl1pPr>
          </a:lstStyle>
          <a:p>
            <a:pPr/>
            <a:r>
              <a:t>4</a:t>
            </a:r>
          </a:p>
        </p:txBody>
      </p:sp>
      <p:sp>
        <p:nvSpPr>
          <p:cNvPr id="220" name="5"/>
          <p:cNvSpPr txBox="1"/>
          <p:nvPr/>
        </p:nvSpPr>
        <p:spPr>
          <a:xfrm>
            <a:off x="7885581" y="6453784"/>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6"/>
                </a:solidFill>
              </a:defRPr>
            </a:lvl1pPr>
          </a:lstStyle>
          <a:p>
            <a:pPr/>
            <a:r>
              <a:t>5</a:t>
            </a:r>
          </a:p>
        </p:txBody>
      </p:sp>
      <p:sp>
        <p:nvSpPr>
          <p:cNvPr id="221" name="6"/>
          <p:cNvSpPr txBox="1"/>
          <p:nvPr/>
        </p:nvSpPr>
        <p:spPr>
          <a:xfrm>
            <a:off x="10622146" y="6453784"/>
            <a:ext cx="453238"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hueOff val="-1247790"/>
                    <a:lumOff val="-12326"/>
                  </a:schemeClr>
                </a:solidFill>
              </a:defRPr>
            </a:lvl1pPr>
          </a:lstStyle>
          <a:p>
            <a:pPr/>
            <a:r>
              <a:t>6</a:t>
            </a:r>
          </a:p>
        </p:txBody>
      </p:sp>
      <p:sp>
        <p:nvSpPr>
          <p:cNvPr id="222" name="7"/>
          <p:cNvSpPr txBox="1"/>
          <p:nvPr/>
        </p:nvSpPr>
        <p:spPr>
          <a:xfrm>
            <a:off x="13358711" y="6453784"/>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2"/>
                </a:solidFill>
              </a:defRPr>
            </a:lvl1pPr>
          </a:lstStyle>
          <a:p>
            <a:pPr/>
            <a:r>
              <a:t>7</a:t>
            </a:r>
          </a:p>
        </p:txBody>
      </p:sp>
      <p:sp>
        <p:nvSpPr>
          <p:cNvPr id="223" name="8"/>
          <p:cNvSpPr txBox="1"/>
          <p:nvPr/>
        </p:nvSpPr>
        <p:spPr>
          <a:xfrm>
            <a:off x="16095276" y="6453784"/>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8</a:t>
            </a:r>
          </a:p>
        </p:txBody>
      </p:sp>
      <p:sp>
        <p:nvSpPr>
          <p:cNvPr id="224" name="9"/>
          <p:cNvSpPr txBox="1"/>
          <p:nvPr/>
        </p:nvSpPr>
        <p:spPr>
          <a:xfrm>
            <a:off x="7885581" y="9286366"/>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2"/>
                </a:solidFill>
              </a:defRPr>
            </a:lvl1pPr>
          </a:lstStyle>
          <a:p>
            <a:pPr/>
            <a:r>
              <a:t>9</a:t>
            </a:r>
          </a:p>
        </p:txBody>
      </p:sp>
      <p:sp>
        <p:nvSpPr>
          <p:cNvPr id="225" name="10"/>
          <p:cNvSpPr txBox="1"/>
          <p:nvPr/>
        </p:nvSpPr>
        <p:spPr>
          <a:xfrm>
            <a:off x="10622146" y="9286366"/>
            <a:ext cx="79217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10</a:t>
            </a:r>
          </a:p>
        </p:txBody>
      </p:sp>
      <p:sp>
        <p:nvSpPr>
          <p:cNvPr id="226" name="11"/>
          <p:cNvSpPr txBox="1"/>
          <p:nvPr/>
        </p:nvSpPr>
        <p:spPr>
          <a:xfrm>
            <a:off x="13189243" y="9286366"/>
            <a:ext cx="79217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11</a:t>
            </a:r>
          </a:p>
        </p:txBody>
      </p:sp>
      <p:sp>
        <p:nvSpPr>
          <p:cNvPr id="227" name="12"/>
          <p:cNvSpPr txBox="1"/>
          <p:nvPr/>
        </p:nvSpPr>
        <p:spPr>
          <a:xfrm>
            <a:off x="15756339" y="9286366"/>
            <a:ext cx="79217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6"/>
                </a:solidFill>
              </a:defRPr>
            </a:lvl1pPr>
          </a:lstStyle>
          <a:p>
            <a:pPr/>
            <a:r>
              <a:t>12</a:t>
            </a:r>
          </a:p>
        </p:txBody>
      </p:sp>
      <p:sp>
        <p:nvSpPr>
          <p:cNvPr id="228" name="La escalera automatica"/>
          <p:cNvSpPr txBox="1"/>
          <p:nvPr/>
        </p:nvSpPr>
        <p:spPr>
          <a:xfrm>
            <a:off x="6217570" y="685738"/>
            <a:ext cx="11948859" cy="137838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nSpc>
                <a:spcPct val="80000"/>
              </a:lnSpc>
              <a:spcBef>
                <a:spcPts val="0"/>
              </a:spcBef>
              <a:defRPr b="1" spc="-170" sz="8500"/>
            </a:lvl1pPr>
          </a:lstStyle>
          <a:p>
            <a:pPr/>
            <a:r>
              <a:t>La escalera automatica </a:t>
            </a:r>
          </a:p>
        </p:txBody>
      </p:sp>
      <p:sp>
        <p:nvSpPr>
          <p:cNvPr id="229" name="Shape"/>
          <p:cNvSpPr/>
          <p:nvPr/>
        </p:nvSpPr>
        <p:spPr>
          <a:xfrm rot="18378">
            <a:off x="9592206" y="4432538"/>
            <a:ext cx="597774" cy="2302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5" y="0"/>
                </a:moveTo>
                <a:cubicBezTo>
                  <a:pt x="501" y="0"/>
                  <a:pt x="0" y="130"/>
                  <a:pt x="0" y="292"/>
                </a:cubicBezTo>
                <a:lnTo>
                  <a:pt x="0" y="21308"/>
                </a:lnTo>
                <a:cubicBezTo>
                  <a:pt x="0" y="21470"/>
                  <a:pt x="501" y="21600"/>
                  <a:pt x="1125" y="21600"/>
                </a:cubicBezTo>
                <a:lnTo>
                  <a:pt x="2789" y="21600"/>
                </a:lnTo>
                <a:cubicBezTo>
                  <a:pt x="3414" y="21600"/>
                  <a:pt x="3914" y="21470"/>
                  <a:pt x="3914" y="21308"/>
                </a:cubicBezTo>
                <a:lnTo>
                  <a:pt x="3914" y="20049"/>
                </a:lnTo>
                <a:cubicBezTo>
                  <a:pt x="3914" y="19989"/>
                  <a:pt x="4102" y="19941"/>
                  <a:pt x="4330" y="19941"/>
                </a:cubicBezTo>
                <a:lnTo>
                  <a:pt x="17270" y="19941"/>
                </a:lnTo>
                <a:cubicBezTo>
                  <a:pt x="17499" y="19941"/>
                  <a:pt x="17686" y="19989"/>
                  <a:pt x="17686" y="20049"/>
                </a:cubicBezTo>
                <a:lnTo>
                  <a:pt x="17686" y="21308"/>
                </a:lnTo>
                <a:cubicBezTo>
                  <a:pt x="17686" y="21470"/>
                  <a:pt x="18186" y="21600"/>
                  <a:pt x="18811" y="21600"/>
                </a:cubicBezTo>
                <a:lnTo>
                  <a:pt x="20475" y="21600"/>
                </a:lnTo>
                <a:cubicBezTo>
                  <a:pt x="21099" y="21600"/>
                  <a:pt x="21600" y="21470"/>
                  <a:pt x="21600" y="21308"/>
                </a:cubicBezTo>
                <a:lnTo>
                  <a:pt x="21600" y="292"/>
                </a:lnTo>
                <a:cubicBezTo>
                  <a:pt x="21600" y="130"/>
                  <a:pt x="21099" y="0"/>
                  <a:pt x="20475" y="0"/>
                </a:cubicBezTo>
                <a:lnTo>
                  <a:pt x="18811" y="0"/>
                </a:lnTo>
                <a:cubicBezTo>
                  <a:pt x="18186" y="0"/>
                  <a:pt x="17686" y="130"/>
                  <a:pt x="17686" y="292"/>
                </a:cubicBezTo>
                <a:lnTo>
                  <a:pt x="17686" y="1604"/>
                </a:lnTo>
                <a:cubicBezTo>
                  <a:pt x="17686" y="1663"/>
                  <a:pt x="17498" y="1712"/>
                  <a:pt x="17270" y="1712"/>
                </a:cubicBezTo>
                <a:lnTo>
                  <a:pt x="4330" y="1712"/>
                </a:lnTo>
                <a:cubicBezTo>
                  <a:pt x="4101" y="1712"/>
                  <a:pt x="3914" y="1663"/>
                  <a:pt x="3914" y="1604"/>
                </a:cubicBezTo>
                <a:lnTo>
                  <a:pt x="3914" y="292"/>
                </a:lnTo>
                <a:cubicBezTo>
                  <a:pt x="3914" y="130"/>
                  <a:pt x="3414" y="0"/>
                  <a:pt x="2789" y="0"/>
                </a:cubicBezTo>
                <a:lnTo>
                  <a:pt x="1125" y="0"/>
                </a:lnTo>
                <a:close/>
                <a:moveTo>
                  <a:pt x="4330" y="2225"/>
                </a:moveTo>
                <a:lnTo>
                  <a:pt x="17270" y="2225"/>
                </a:lnTo>
                <a:cubicBezTo>
                  <a:pt x="17499" y="2225"/>
                  <a:pt x="17686" y="2273"/>
                  <a:pt x="17686" y="2333"/>
                </a:cubicBezTo>
                <a:lnTo>
                  <a:pt x="17686" y="3825"/>
                </a:lnTo>
                <a:cubicBezTo>
                  <a:pt x="17686" y="3884"/>
                  <a:pt x="17498" y="3933"/>
                  <a:pt x="17270" y="3933"/>
                </a:cubicBezTo>
                <a:lnTo>
                  <a:pt x="4330" y="3933"/>
                </a:lnTo>
                <a:cubicBezTo>
                  <a:pt x="4101" y="3933"/>
                  <a:pt x="3914" y="3884"/>
                  <a:pt x="3914" y="3825"/>
                </a:cubicBezTo>
                <a:lnTo>
                  <a:pt x="3914" y="2333"/>
                </a:lnTo>
                <a:cubicBezTo>
                  <a:pt x="3914" y="2273"/>
                  <a:pt x="4102" y="2225"/>
                  <a:pt x="4330" y="2225"/>
                </a:cubicBezTo>
                <a:close/>
                <a:moveTo>
                  <a:pt x="4330" y="4439"/>
                </a:moveTo>
                <a:lnTo>
                  <a:pt x="17270" y="4439"/>
                </a:lnTo>
                <a:cubicBezTo>
                  <a:pt x="17499" y="4439"/>
                  <a:pt x="17686" y="4488"/>
                  <a:pt x="17686" y="4547"/>
                </a:cubicBezTo>
                <a:lnTo>
                  <a:pt x="17686" y="6039"/>
                </a:lnTo>
                <a:cubicBezTo>
                  <a:pt x="17686" y="6099"/>
                  <a:pt x="17498" y="6147"/>
                  <a:pt x="17270" y="6147"/>
                </a:cubicBezTo>
                <a:lnTo>
                  <a:pt x="4330" y="6147"/>
                </a:lnTo>
                <a:cubicBezTo>
                  <a:pt x="4101" y="6147"/>
                  <a:pt x="3914" y="6099"/>
                  <a:pt x="3914" y="6039"/>
                </a:cubicBezTo>
                <a:lnTo>
                  <a:pt x="3914" y="4547"/>
                </a:lnTo>
                <a:cubicBezTo>
                  <a:pt x="3914" y="4488"/>
                  <a:pt x="4102" y="4439"/>
                  <a:pt x="4330" y="4439"/>
                </a:cubicBezTo>
                <a:close/>
                <a:moveTo>
                  <a:pt x="4330" y="6654"/>
                </a:moveTo>
                <a:lnTo>
                  <a:pt x="17270" y="6654"/>
                </a:lnTo>
                <a:cubicBezTo>
                  <a:pt x="17499" y="6654"/>
                  <a:pt x="17686" y="6702"/>
                  <a:pt x="17686" y="6762"/>
                </a:cubicBezTo>
                <a:lnTo>
                  <a:pt x="17686" y="8254"/>
                </a:lnTo>
                <a:cubicBezTo>
                  <a:pt x="17686" y="8313"/>
                  <a:pt x="17498" y="8362"/>
                  <a:pt x="17270" y="8362"/>
                </a:cubicBezTo>
                <a:lnTo>
                  <a:pt x="4330" y="8362"/>
                </a:lnTo>
                <a:cubicBezTo>
                  <a:pt x="4101" y="8362"/>
                  <a:pt x="3914" y="8313"/>
                  <a:pt x="3914" y="8254"/>
                </a:cubicBezTo>
                <a:lnTo>
                  <a:pt x="3914" y="6762"/>
                </a:lnTo>
                <a:cubicBezTo>
                  <a:pt x="3914" y="6702"/>
                  <a:pt x="4102" y="6654"/>
                  <a:pt x="4330" y="6654"/>
                </a:cubicBezTo>
                <a:close/>
                <a:moveTo>
                  <a:pt x="4330" y="8868"/>
                </a:moveTo>
                <a:lnTo>
                  <a:pt x="17270" y="8868"/>
                </a:lnTo>
                <a:cubicBezTo>
                  <a:pt x="17499" y="8868"/>
                  <a:pt x="17686" y="8917"/>
                  <a:pt x="17686" y="8976"/>
                </a:cubicBezTo>
                <a:lnTo>
                  <a:pt x="17686" y="10468"/>
                </a:lnTo>
                <a:cubicBezTo>
                  <a:pt x="17686" y="10528"/>
                  <a:pt x="17498" y="10576"/>
                  <a:pt x="17270" y="10576"/>
                </a:cubicBezTo>
                <a:lnTo>
                  <a:pt x="4330" y="10576"/>
                </a:lnTo>
                <a:cubicBezTo>
                  <a:pt x="4101" y="10576"/>
                  <a:pt x="3914" y="10528"/>
                  <a:pt x="3914" y="10468"/>
                </a:cubicBezTo>
                <a:lnTo>
                  <a:pt x="3914" y="8976"/>
                </a:lnTo>
                <a:cubicBezTo>
                  <a:pt x="3914" y="8917"/>
                  <a:pt x="4102" y="8868"/>
                  <a:pt x="4330" y="8868"/>
                </a:cubicBezTo>
                <a:close/>
                <a:moveTo>
                  <a:pt x="4330" y="11083"/>
                </a:moveTo>
                <a:lnTo>
                  <a:pt x="17270" y="11083"/>
                </a:lnTo>
                <a:cubicBezTo>
                  <a:pt x="17499" y="11083"/>
                  <a:pt x="17686" y="11131"/>
                  <a:pt x="17686" y="11191"/>
                </a:cubicBezTo>
                <a:lnTo>
                  <a:pt x="17686" y="12683"/>
                </a:lnTo>
                <a:cubicBezTo>
                  <a:pt x="17686" y="12742"/>
                  <a:pt x="17498" y="12791"/>
                  <a:pt x="17270" y="12791"/>
                </a:cubicBezTo>
                <a:lnTo>
                  <a:pt x="4330" y="12791"/>
                </a:lnTo>
                <a:cubicBezTo>
                  <a:pt x="4101" y="12791"/>
                  <a:pt x="3914" y="12742"/>
                  <a:pt x="3914" y="12683"/>
                </a:cubicBezTo>
                <a:lnTo>
                  <a:pt x="3914" y="11191"/>
                </a:lnTo>
                <a:cubicBezTo>
                  <a:pt x="3914" y="11131"/>
                  <a:pt x="4102" y="11083"/>
                  <a:pt x="4330" y="11083"/>
                </a:cubicBezTo>
                <a:close/>
                <a:moveTo>
                  <a:pt x="4330" y="13297"/>
                </a:moveTo>
                <a:lnTo>
                  <a:pt x="17270" y="13297"/>
                </a:lnTo>
                <a:cubicBezTo>
                  <a:pt x="17499" y="13297"/>
                  <a:pt x="17686" y="13346"/>
                  <a:pt x="17686" y="13405"/>
                </a:cubicBezTo>
                <a:lnTo>
                  <a:pt x="17686" y="14897"/>
                </a:lnTo>
                <a:cubicBezTo>
                  <a:pt x="17686" y="14957"/>
                  <a:pt x="17498" y="15005"/>
                  <a:pt x="17270" y="15005"/>
                </a:cubicBezTo>
                <a:lnTo>
                  <a:pt x="4330" y="15005"/>
                </a:lnTo>
                <a:cubicBezTo>
                  <a:pt x="4101" y="15005"/>
                  <a:pt x="3914" y="14957"/>
                  <a:pt x="3914" y="14897"/>
                </a:cubicBezTo>
                <a:lnTo>
                  <a:pt x="3914" y="13405"/>
                </a:lnTo>
                <a:cubicBezTo>
                  <a:pt x="3914" y="13346"/>
                  <a:pt x="4102" y="13297"/>
                  <a:pt x="4330" y="13297"/>
                </a:cubicBezTo>
                <a:close/>
                <a:moveTo>
                  <a:pt x="4330" y="15512"/>
                </a:moveTo>
                <a:lnTo>
                  <a:pt x="17270" y="15512"/>
                </a:lnTo>
                <a:cubicBezTo>
                  <a:pt x="17499" y="15512"/>
                  <a:pt x="17686" y="15560"/>
                  <a:pt x="17686" y="15620"/>
                </a:cubicBezTo>
                <a:lnTo>
                  <a:pt x="17686" y="17112"/>
                </a:lnTo>
                <a:cubicBezTo>
                  <a:pt x="17686" y="17171"/>
                  <a:pt x="17498" y="17220"/>
                  <a:pt x="17270" y="17220"/>
                </a:cubicBezTo>
                <a:lnTo>
                  <a:pt x="4330" y="17220"/>
                </a:lnTo>
                <a:cubicBezTo>
                  <a:pt x="4101" y="17220"/>
                  <a:pt x="3914" y="17171"/>
                  <a:pt x="3914" y="17112"/>
                </a:cubicBezTo>
                <a:lnTo>
                  <a:pt x="3914" y="15620"/>
                </a:lnTo>
                <a:cubicBezTo>
                  <a:pt x="3914" y="15560"/>
                  <a:pt x="4102" y="15512"/>
                  <a:pt x="4330" y="15512"/>
                </a:cubicBezTo>
                <a:close/>
                <a:moveTo>
                  <a:pt x="4330" y="17726"/>
                </a:moveTo>
                <a:lnTo>
                  <a:pt x="17270" y="17726"/>
                </a:lnTo>
                <a:cubicBezTo>
                  <a:pt x="17499" y="17726"/>
                  <a:pt x="17686" y="17775"/>
                  <a:pt x="17686" y="17834"/>
                </a:cubicBezTo>
                <a:lnTo>
                  <a:pt x="17686" y="19326"/>
                </a:lnTo>
                <a:cubicBezTo>
                  <a:pt x="17686" y="19386"/>
                  <a:pt x="17498" y="19434"/>
                  <a:pt x="17270" y="19434"/>
                </a:cubicBezTo>
                <a:lnTo>
                  <a:pt x="4330" y="19434"/>
                </a:lnTo>
                <a:cubicBezTo>
                  <a:pt x="4101" y="19434"/>
                  <a:pt x="3914" y="19386"/>
                  <a:pt x="3914" y="19326"/>
                </a:cubicBezTo>
                <a:lnTo>
                  <a:pt x="3914" y="17834"/>
                </a:lnTo>
                <a:cubicBezTo>
                  <a:pt x="3914" y="17775"/>
                  <a:pt x="4102" y="17726"/>
                  <a:pt x="4330" y="17726"/>
                </a:cubicBezTo>
                <a:close/>
              </a:path>
            </a:pathLst>
          </a:custGeom>
          <a:solidFill>
            <a:srgbClr val="EF8C00"/>
          </a:solidFill>
          <a:ln w="12700">
            <a:miter lim="400000"/>
          </a:ln>
        </p:spPr>
        <p:txBody>
          <a:bodyPr lIns="127000" tIns="127000" rIns="127000" bIns="127000" anchor="ctr">
            <a:normAutofit fontScale="100000" lnSpcReduction="0"/>
          </a:bodyPr>
          <a:lstStyle/>
          <a:p>
            <a:pPr algn="ct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Helvetica"/>
                <a:ea typeface="Helvetica"/>
                <a:cs typeface="Helvetica"/>
                <a:sym typeface="Helvetica"/>
              </a:defRPr>
            </a:pPr>
          </a:p>
        </p:txBody>
      </p:sp>
      <p:sp>
        <p:nvSpPr>
          <p:cNvPr id="230" name="Shape"/>
          <p:cNvSpPr/>
          <p:nvPr/>
        </p:nvSpPr>
        <p:spPr>
          <a:xfrm rot="1432251">
            <a:off x="11702184" y="4874645"/>
            <a:ext cx="1029728" cy="39667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5" y="0"/>
                </a:moveTo>
                <a:cubicBezTo>
                  <a:pt x="501" y="0"/>
                  <a:pt x="0" y="130"/>
                  <a:pt x="0" y="292"/>
                </a:cubicBezTo>
                <a:lnTo>
                  <a:pt x="0" y="21308"/>
                </a:lnTo>
                <a:cubicBezTo>
                  <a:pt x="0" y="21470"/>
                  <a:pt x="501" y="21600"/>
                  <a:pt x="1125" y="21600"/>
                </a:cubicBezTo>
                <a:lnTo>
                  <a:pt x="2789" y="21600"/>
                </a:lnTo>
                <a:cubicBezTo>
                  <a:pt x="3414" y="21600"/>
                  <a:pt x="3914" y="21470"/>
                  <a:pt x="3914" y="21308"/>
                </a:cubicBezTo>
                <a:lnTo>
                  <a:pt x="3914" y="20049"/>
                </a:lnTo>
                <a:cubicBezTo>
                  <a:pt x="3914" y="19989"/>
                  <a:pt x="4102" y="19941"/>
                  <a:pt x="4330" y="19941"/>
                </a:cubicBezTo>
                <a:lnTo>
                  <a:pt x="17270" y="19941"/>
                </a:lnTo>
                <a:cubicBezTo>
                  <a:pt x="17499" y="19941"/>
                  <a:pt x="17686" y="19989"/>
                  <a:pt x="17686" y="20049"/>
                </a:cubicBezTo>
                <a:lnTo>
                  <a:pt x="17686" y="21308"/>
                </a:lnTo>
                <a:cubicBezTo>
                  <a:pt x="17686" y="21470"/>
                  <a:pt x="18186" y="21600"/>
                  <a:pt x="18811" y="21600"/>
                </a:cubicBezTo>
                <a:lnTo>
                  <a:pt x="20475" y="21600"/>
                </a:lnTo>
                <a:cubicBezTo>
                  <a:pt x="21099" y="21600"/>
                  <a:pt x="21600" y="21470"/>
                  <a:pt x="21600" y="21308"/>
                </a:cubicBezTo>
                <a:lnTo>
                  <a:pt x="21600" y="292"/>
                </a:lnTo>
                <a:cubicBezTo>
                  <a:pt x="21600" y="130"/>
                  <a:pt x="21099" y="0"/>
                  <a:pt x="20475" y="0"/>
                </a:cubicBezTo>
                <a:lnTo>
                  <a:pt x="18811" y="0"/>
                </a:lnTo>
                <a:cubicBezTo>
                  <a:pt x="18186" y="0"/>
                  <a:pt x="17686" y="130"/>
                  <a:pt x="17686" y="292"/>
                </a:cubicBezTo>
                <a:lnTo>
                  <a:pt x="17686" y="1604"/>
                </a:lnTo>
                <a:cubicBezTo>
                  <a:pt x="17686" y="1663"/>
                  <a:pt x="17498" y="1712"/>
                  <a:pt x="17270" y="1712"/>
                </a:cubicBezTo>
                <a:lnTo>
                  <a:pt x="4330" y="1712"/>
                </a:lnTo>
                <a:cubicBezTo>
                  <a:pt x="4101" y="1712"/>
                  <a:pt x="3914" y="1663"/>
                  <a:pt x="3914" y="1604"/>
                </a:cubicBezTo>
                <a:lnTo>
                  <a:pt x="3914" y="292"/>
                </a:lnTo>
                <a:cubicBezTo>
                  <a:pt x="3914" y="130"/>
                  <a:pt x="3414" y="0"/>
                  <a:pt x="2789" y="0"/>
                </a:cubicBezTo>
                <a:lnTo>
                  <a:pt x="1125" y="0"/>
                </a:lnTo>
                <a:close/>
                <a:moveTo>
                  <a:pt x="4330" y="2225"/>
                </a:moveTo>
                <a:lnTo>
                  <a:pt x="17270" y="2225"/>
                </a:lnTo>
                <a:cubicBezTo>
                  <a:pt x="17499" y="2225"/>
                  <a:pt x="17686" y="2273"/>
                  <a:pt x="17686" y="2333"/>
                </a:cubicBezTo>
                <a:lnTo>
                  <a:pt x="17686" y="3825"/>
                </a:lnTo>
                <a:cubicBezTo>
                  <a:pt x="17686" y="3884"/>
                  <a:pt x="17498" y="3933"/>
                  <a:pt x="17270" y="3933"/>
                </a:cubicBezTo>
                <a:lnTo>
                  <a:pt x="4330" y="3933"/>
                </a:lnTo>
                <a:cubicBezTo>
                  <a:pt x="4101" y="3933"/>
                  <a:pt x="3914" y="3884"/>
                  <a:pt x="3914" y="3825"/>
                </a:cubicBezTo>
                <a:lnTo>
                  <a:pt x="3914" y="2333"/>
                </a:lnTo>
                <a:cubicBezTo>
                  <a:pt x="3914" y="2273"/>
                  <a:pt x="4102" y="2225"/>
                  <a:pt x="4330" y="2225"/>
                </a:cubicBezTo>
                <a:close/>
                <a:moveTo>
                  <a:pt x="4330" y="4439"/>
                </a:moveTo>
                <a:lnTo>
                  <a:pt x="17270" y="4439"/>
                </a:lnTo>
                <a:cubicBezTo>
                  <a:pt x="17499" y="4439"/>
                  <a:pt x="17686" y="4488"/>
                  <a:pt x="17686" y="4547"/>
                </a:cubicBezTo>
                <a:lnTo>
                  <a:pt x="17686" y="6039"/>
                </a:lnTo>
                <a:cubicBezTo>
                  <a:pt x="17686" y="6099"/>
                  <a:pt x="17498" y="6147"/>
                  <a:pt x="17270" y="6147"/>
                </a:cubicBezTo>
                <a:lnTo>
                  <a:pt x="4330" y="6147"/>
                </a:lnTo>
                <a:cubicBezTo>
                  <a:pt x="4101" y="6147"/>
                  <a:pt x="3914" y="6099"/>
                  <a:pt x="3914" y="6039"/>
                </a:cubicBezTo>
                <a:lnTo>
                  <a:pt x="3914" y="4547"/>
                </a:lnTo>
                <a:cubicBezTo>
                  <a:pt x="3914" y="4488"/>
                  <a:pt x="4102" y="4439"/>
                  <a:pt x="4330" y="4439"/>
                </a:cubicBezTo>
                <a:close/>
                <a:moveTo>
                  <a:pt x="4330" y="6654"/>
                </a:moveTo>
                <a:lnTo>
                  <a:pt x="17270" y="6654"/>
                </a:lnTo>
                <a:cubicBezTo>
                  <a:pt x="17499" y="6654"/>
                  <a:pt x="17686" y="6702"/>
                  <a:pt x="17686" y="6762"/>
                </a:cubicBezTo>
                <a:lnTo>
                  <a:pt x="17686" y="8254"/>
                </a:lnTo>
                <a:cubicBezTo>
                  <a:pt x="17686" y="8313"/>
                  <a:pt x="17498" y="8362"/>
                  <a:pt x="17270" y="8362"/>
                </a:cubicBezTo>
                <a:lnTo>
                  <a:pt x="4330" y="8362"/>
                </a:lnTo>
                <a:cubicBezTo>
                  <a:pt x="4101" y="8362"/>
                  <a:pt x="3914" y="8313"/>
                  <a:pt x="3914" y="8254"/>
                </a:cubicBezTo>
                <a:lnTo>
                  <a:pt x="3914" y="6762"/>
                </a:lnTo>
                <a:cubicBezTo>
                  <a:pt x="3914" y="6702"/>
                  <a:pt x="4102" y="6654"/>
                  <a:pt x="4330" y="6654"/>
                </a:cubicBezTo>
                <a:close/>
                <a:moveTo>
                  <a:pt x="4330" y="8868"/>
                </a:moveTo>
                <a:lnTo>
                  <a:pt x="17270" y="8868"/>
                </a:lnTo>
                <a:cubicBezTo>
                  <a:pt x="17499" y="8868"/>
                  <a:pt x="17686" y="8917"/>
                  <a:pt x="17686" y="8976"/>
                </a:cubicBezTo>
                <a:lnTo>
                  <a:pt x="17686" y="10468"/>
                </a:lnTo>
                <a:cubicBezTo>
                  <a:pt x="17686" y="10528"/>
                  <a:pt x="17498" y="10576"/>
                  <a:pt x="17270" y="10576"/>
                </a:cubicBezTo>
                <a:lnTo>
                  <a:pt x="4330" y="10576"/>
                </a:lnTo>
                <a:cubicBezTo>
                  <a:pt x="4101" y="10576"/>
                  <a:pt x="3914" y="10528"/>
                  <a:pt x="3914" y="10468"/>
                </a:cubicBezTo>
                <a:lnTo>
                  <a:pt x="3914" y="8976"/>
                </a:lnTo>
                <a:cubicBezTo>
                  <a:pt x="3914" y="8917"/>
                  <a:pt x="4102" y="8868"/>
                  <a:pt x="4330" y="8868"/>
                </a:cubicBezTo>
                <a:close/>
                <a:moveTo>
                  <a:pt x="4330" y="11083"/>
                </a:moveTo>
                <a:lnTo>
                  <a:pt x="17270" y="11083"/>
                </a:lnTo>
                <a:cubicBezTo>
                  <a:pt x="17499" y="11083"/>
                  <a:pt x="17686" y="11131"/>
                  <a:pt x="17686" y="11191"/>
                </a:cubicBezTo>
                <a:lnTo>
                  <a:pt x="17686" y="12683"/>
                </a:lnTo>
                <a:cubicBezTo>
                  <a:pt x="17686" y="12742"/>
                  <a:pt x="17498" y="12791"/>
                  <a:pt x="17270" y="12791"/>
                </a:cubicBezTo>
                <a:lnTo>
                  <a:pt x="4330" y="12791"/>
                </a:lnTo>
                <a:cubicBezTo>
                  <a:pt x="4101" y="12791"/>
                  <a:pt x="3914" y="12742"/>
                  <a:pt x="3914" y="12683"/>
                </a:cubicBezTo>
                <a:lnTo>
                  <a:pt x="3914" y="11191"/>
                </a:lnTo>
                <a:cubicBezTo>
                  <a:pt x="3914" y="11131"/>
                  <a:pt x="4102" y="11083"/>
                  <a:pt x="4330" y="11083"/>
                </a:cubicBezTo>
                <a:close/>
                <a:moveTo>
                  <a:pt x="4330" y="13297"/>
                </a:moveTo>
                <a:lnTo>
                  <a:pt x="17270" y="13297"/>
                </a:lnTo>
                <a:cubicBezTo>
                  <a:pt x="17499" y="13297"/>
                  <a:pt x="17686" y="13346"/>
                  <a:pt x="17686" y="13405"/>
                </a:cubicBezTo>
                <a:lnTo>
                  <a:pt x="17686" y="14897"/>
                </a:lnTo>
                <a:cubicBezTo>
                  <a:pt x="17686" y="14957"/>
                  <a:pt x="17498" y="15005"/>
                  <a:pt x="17270" y="15005"/>
                </a:cubicBezTo>
                <a:lnTo>
                  <a:pt x="4330" y="15005"/>
                </a:lnTo>
                <a:cubicBezTo>
                  <a:pt x="4101" y="15005"/>
                  <a:pt x="3914" y="14957"/>
                  <a:pt x="3914" y="14897"/>
                </a:cubicBezTo>
                <a:lnTo>
                  <a:pt x="3914" y="13405"/>
                </a:lnTo>
                <a:cubicBezTo>
                  <a:pt x="3914" y="13346"/>
                  <a:pt x="4102" y="13297"/>
                  <a:pt x="4330" y="13297"/>
                </a:cubicBezTo>
                <a:close/>
                <a:moveTo>
                  <a:pt x="4330" y="15512"/>
                </a:moveTo>
                <a:lnTo>
                  <a:pt x="17270" y="15512"/>
                </a:lnTo>
                <a:cubicBezTo>
                  <a:pt x="17499" y="15512"/>
                  <a:pt x="17686" y="15560"/>
                  <a:pt x="17686" y="15620"/>
                </a:cubicBezTo>
                <a:lnTo>
                  <a:pt x="17686" y="17112"/>
                </a:lnTo>
                <a:cubicBezTo>
                  <a:pt x="17686" y="17171"/>
                  <a:pt x="17498" y="17220"/>
                  <a:pt x="17270" y="17220"/>
                </a:cubicBezTo>
                <a:lnTo>
                  <a:pt x="4330" y="17220"/>
                </a:lnTo>
                <a:cubicBezTo>
                  <a:pt x="4101" y="17220"/>
                  <a:pt x="3914" y="17171"/>
                  <a:pt x="3914" y="17112"/>
                </a:cubicBezTo>
                <a:lnTo>
                  <a:pt x="3914" y="15620"/>
                </a:lnTo>
                <a:cubicBezTo>
                  <a:pt x="3914" y="15560"/>
                  <a:pt x="4102" y="15512"/>
                  <a:pt x="4330" y="15512"/>
                </a:cubicBezTo>
                <a:close/>
                <a:moveTo>
                  <a:pt x="4330" y="17726"/>
                </a:moveTo>
                <a:lnTo>
                  <a:pt x="17270" y="17726"/>
                </a:lnTo>
                <a:cubicBezTo>
                  <a:pt x="17499" y="17726"/>
                  <a:pt x="17686" y="17775"/>
                  <a:pt x="17686" y="17834"/>
                </a:cubicBezTo>
                <a:lnTo>
                  <a:pt x="17686" y="19326"/>
                </a:lnTo>
                <a:cubicBezTo>
                  <a:pt x="17686" y="19386"/>
                  <a:pt x="17498" y="19434"/>
                  <a:pt x="17270" y="19434"/>
                </a:cubicBezTo>
                <a:lnTo>
                  <a:pt x="4330" y="19434"/>
                </a:lnTo>
                <a:cubicBezTo>
                  <a:pt x="4101" y="19434"/>
                  <a:pt x="3914" y="19386"/>
                  <a:pt x="3914" y="19326"/>
                </a:cubicBezTo>
                <a:lnTo>
                  <a:pt x="3914" y="17834"/>
                </a:lnTo>
                <a:cubicBezTo>
                  <a:pt x="3914" y="17775"/>
                  <a:pt x="4102" y="17726"/>
                  <a:pt x="4330" y="17726"/>
                </a:cubicBezTo>
                <a:close/>
              </a:path>
            </a:pathLst>
          </a:custGeom>
          <a:solidFill>
            <a:srgbClr val="EF8C00"/>
          </a:solidFill>
          <a:ln w="12700">
            <a:miter lim="400000"/>
          </a:ln>
        </p:spPr>
        <p:txBody>
          <a:bodyPr lIns="127000" tIns="127000" rIns="127000" bIns="127000" anchor="ctr">
            <a:normAutofit fontScale="100000" lnSpcReduction="0"/>
          </a:bodyPr>
          <a:lstStyle/>
          <a:p>
            <a:pPr algn="ct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Helvetica"/>
                <a:ea typeface="Helvetica"/>
                <a:cs typeface="Helvetica"/>
                <a:sym typeface="Helvetica"/>
              </a:defRPr>
            </a:pPr>
          </a:p>
        </p:txBody>
      </p:sp>
      <p:sp>
        <p:nvSpPr>
          <p:cNvPr id="231" name="Shape"/>
          <p:cNvSpPr/>
          <p:nvPr/>
        </p:nvSpPr>
        <p:spPr>
          <a:xfrm>
            <a:off x="13978247" y="8358781"/>
            <a:ext cx="792176" cy="13598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12" y="0"/>
                </a:moveTo>
                <a:lnTo>
                  <a:pt x="11855" y="2829"/>
                </a:lnTo>
                <a:lnTo>
                  <a:pt x="11855" y="4997"/>
                </a:lnTo>
                <a:lnTo>
                  <a:pt x="15395" y="2935"/>
                </a:lnTo>
                <a:lnTo>
                  <a:pt x="15395" y="9017"/>
                </a:lnTo>
                <a:lnTo>
                  <a:pt x="4967" y="9017"/>
                </a:lnTo>
                <a:lnTo>
                  <a:pt x="9742" y="6233"/>
                </a:lnTo>
                <a:lnTo>
                  <a:pt x="9742" y="4065"/>
                </a:lnTo>
                <a:lnTo>
                  <a:pt x="6202" y="6127"/>
                </a:lnTo>
                <a:lnTo>
                  <a:pt x="6202" y="243"/>
                </a:lnTo>
                <a:lnTo>
                  <a:pt x="3569" y="243"/>
                </a:lnTo>
                <a:lnTo>
                  <a:pt x="3569" y="6127"/>
                </a:lnTo>
                <a:lnTo>
                  <a:pt x="0" y="4047"/>
                </a:lnTo>
                <a:lnTo>
                  <a:pt x="0" y="6216"/>
                </a:lnTo>
                <a:lnTo>
                  <a:pt x="4805" y="9017"/>
                </a:lnTo>
                <a:lnTo>
                  <a:pt x="0" y="9017"/>
                </a:lnTo>
                <a:lnTo>
                  <a:pt x="0" y="21600"/>
                </a:lnTo>
                <a:lnTo>
                  <a:pt x="21600" y="21600"/>
                </a:lnTo>
                <a:lnTo>
                  <a:pt x="21600" y="9017"/>
                </a:lnTo>
                <a:lnTo>
                  <a:pt x="18028" y="9017"/>
                </a:lnTo>
                <a:lnTo>
                  <a:pt x="18028" y="2935"/>
                </a:lnTo>
                <a:lnTo>
                  <a:pt x="21600" y="5014"/>
                </a:lnTo>
                <a:lnTo>
                  <a:pt x="21600" y="2846"/>
                </a:lnTo>
                <a:lnTo>
                  <a:pt x="16712" y="0"/>
                </a:lnTo>
                <a:close/>
                <a:moveTo>
                  <a:pt x="2266" y="10337"/>
                </a:moveTo>
                <a:lnTo>
                  <a:pt x="19331" y="10337"/>
                </a:lnTo>
                <a:lnTo>
                  <a:pt x="19331" y="20278"/>
                </a:lnTo>
                <a:lnTo>
                  <a:pt x="2266" y="20278"/>
                </a:lnTo>
                <a:lnTo>
                  <a:pt x="2266" y="10337"/>
                </a:lnTo>
                <a:close/>
              </a:path>
            </a:pathLst>
          </a:custGeom>
          <a:solidFill>
            <a:srgbClr val="000000"/>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32" name="Shape"/>
          <p:cNvSpPr/>
          <p:nvPr/>
        </p:nvSpPr>
        <p:spPr>
          <a:xfrm>
            <a:off x="9970892" y="11162474"/>
            <a:ext cx="1187274" cy="1189197"/>
          </a:xfrm>
          <a:custGeom>
            <a:avLst/>
            <a:gdLst/>
            <a:ahLst/>
            <a:cxnLst>
              <a:cxn ang="0">
                <a:pos x="wd2" y="hd2"/>
              </a:cxn>
              <a:cxn ang="5400000">
                <a:pos x="wd2" y="hd2"/>
              </a:cxn>
              <a:cxn ang="10800000">
                <a:pos x="wd2" y="hd2"/>
              </a:cxn>
              <a:cxn ang="16200000">
                <a:pos x="wd2" y="hd2"/>
              </a:cxn>
            </a:cxnLst>
            <a:rect l="0" t="0" r="r" b="b"/>
            <a:pathLst>
              <a:path w="21506" h="21600" fill="norm" stroke="1" extrusionOk="0">
                <a:moveTo>
                  <a:pt x="6934" y="0"/>
                </a:moveTo>
                <a:cubicBezTo>
                  <a:pt x="6735" y="0"/>
                  <a:pt x="6650" y="145"/>
                  <a:pt x="6817" y="442"/>
                </a:cubicBezTo>
                <a:cubicBezTo>
                  <a:pt x="6956" y="690"/>
                  <a:pt x="9918" y="7392"/>
                  <a:pt x="10870" y="9549"/>
                </a:cubicBezTo>
                <a:lnTo>
                  <a:pt x="9220" y="9549"/>
                </a:lnTo>
                <a:lnTo>
                  <a:pt x="6875" y="9549"/>
                </a:lnTo>
                <a:cubicBezTo>
                  <a:pt x="5902" y="9549"/>
                  <a:pt x="4068" y="9760"/>
                  <a:pt x="2789" y="10083"/>
                </a:cubicBezTo>
                <a:cubicBezTo>
                  <a:pt x="2579" y="9830"/>
                  <a:pt x="1315" y="8276"/>
                  <a:pt x="1132" y="8012"/>
                </a:cubicBezTo>
                <a:cubicBezTo>
                  <a:pt x="933" y="7721"/>
                  <a:pt x="734" y="7754"/>
                  <a:pt x="567" y="7754"/>
                </a:cubicBezTo>
                <a:cubicBezTo>
                  <a:pt x="400" y="7754"/>
                  <a:pt x="444" y="7754"/>
                  <a:pt x="283" y="7754"/>
                </a:cubicBezTo>
                <a:cubicBezTo>
                  <a:pt x="116" y="7754"/>
                  <a:pt x="-88" y="7802"/>
                  <a:pt x="41" y="8120"/>
                </a:cubicBezTo>
                <a:cubicBezTo>
                  <a:pt x="219" y="8546"/>
                  <a:pt x="783" y="9922"/>
                  <a:pt x="1149" y="10801"/>
                </a:cubicBezTo>
                <a:cubicBezTo>
                  <a:pt x="783" y="11685"/>
                  <a:pt x="213" y="13054"/>
                  <a:pt x="41" y="13480"/>
                </a:cubicBezTo>
                <a:cubicBezTo>
                  <a:pt x="-88" y="13798"/>
                  <a:pt x="116" y="13847"/>
                  <a:pt x="283" y="13847"/>
                </a:cubicBezTo>
                <a:cubicBezTo>
                  <a:pt x="450" y="13847"/>
                  <a:pt x="406" y="13847"/>
                  <a:pt x="567" y="13847"/>
                </a:cubicBezTo>
                <a:cubicBezTo>
                  <a:pt x="734" y="13847"/>
                  <a:pt x="933" y="13879"/>
                  <a:pt x="1132" y="13588"/>
                </a:cubicBezTo>
                <a:cubicBezTo>
                  <a:pt x="1315" y="13318"/>
                  <a:pt x="2579" y="11770"/>
                  <a:pt x="2789" y="11517"/>
                </a:cubicBezTo>
                <a:cubicBezTo>
                  <a:pt x="4068" y="11841"/>
                  <a:pt x="5908" y="12051"/>
                  <a:pt x="6875" y="12051"/>
                </a:cubicBezTo>
                <a:lnTo>
                  <a:pt x="9095" y="12051"/>
                </a:lnTo>
                <a:lnTo>
                  <a:pt x="10876" y="12051"/>
                </a:lnTo>
                <a:cubicBezTo>
                  <a:pt x="9925" y="14203"/>
                  <a:pt x="6961" y="20911"/>
                  <a:pt x="6822" y="21159"/>
                </a:cubicBezTo>
                <a:cubicBezTo>
                  <a:pt x="6655" y="21455"/>
                  <a:pt x="6746" y="21600"/>
                  <a:pt x="6939" y="21600"/>
                </a:cubicBezTo>
                <a:cubicBezTo>
                  <a:pt x="7133" y="21600"/>
                  <a:pt x="7381" y="21600"/>
                  <a:pt x="7579" y="21600"/>
                </a:cubicBezTo>
                <a:cubicBezTo>
                  <a:pt x="7784" y="21600"/>
                  <a:pt x="7870" y="21481"/>
                  <a:pt x="8005" y="21308"/>
                </a:cubicBezTo>
                <a:cubicBezTo>
                  <a:pt x="8166" y="21104"/>
                  <a:pt x="8988" y="20048"/>
                  <a:pt x="10031" y="18705"/>
                </a:cubicBezTo>
                <a:lnTo>
                  <a:pt x="10930" y="18705"/>
                </a:lnTo>
                <a:cubicBezTo>
                  <a:pt x="11285" y="18705"/>
                  <a:pt x="11613" y="18635"/>
                  <a:pt x="11849" y="18516"/>
                </a:cubicBezTo>
                <a:lnTo>
                  <a:pt x="11849" y="17514"/>
                </a:lnTo>
                <a:cubicBezTo>
                  <a:pt x="11645" y="17417"/>
                  <a:pt x="11387" y="17352"/>
                  <a:pt x="11097" y="17330"/>
                </a:cubicBezTo>
                <a:cubicBezTo>
                  <a:pt x="11495" y="16823"/>
                  <a:pt x="11897" y="16300"/>
                  <a:pt x="12295" y="15794"/>
                </a:cubicBezTo>
                <a:lnTo>
                  <a:pt x="13162" y="15794"/>
                </a:lnTo>
                <a:cubicBezTo>
                  <a:pt x="13517" y="15793"/>
                  <a:pt x="13844" y="15723"/>
                  <a:pt x="14081" y="15605"/>
                </a:cubicBezTo>
                <a:lnTo>
                  <a:pt x="14081" y="14602"/>
                </a:lnTo>
                <a:cubicBezTo>
                  <a:pt x="13888" y="14511"/>
                  <a:pt x="13634" y="14445"/>
                  <a:pt x="13360" y="14424"/>
                </a:cubicBezTo>
                <a:cubicBezTo>
                  <a:pt x="14204" y="13340"/>
                  <a:pt x="14904" y="12445"/>
                  <a:pt x="15210" y="12051"/>
                </a:cubicBezTo>
                <a:lnTo>
                  <a:pt x="18635" y="12051"/>
                </a:lnTo>
                <a:cubicBezTo>
                  <a:pt x="20221" y="12051"/>
                  <a:pt x="21507" y="11491"/>
                  <a:pt x="21507" y="10801"/>
                </a:cubicBezTo>
                <a:cubicBezTo>
                  <a:pt x="21512" y="10111"/>
                  <a:pt x="20226" y="9549"/>
                  <a:pt x="18640" y="9549"/>
                </a:cubicBezTo>
                <a:lnTo>
                  <a:pt x="15215" y="9549"/>
                </a:lnTo>
                <a:cubicBezTo>
                  <a:pt x="14909" y="9155"/>
                  <a:pt x="14209" y="8260"/>
                  <a:pt x="13365" y="7176"/>
                </a:cubicBezTo>
                <a:cubicBezTo>
                  <a:pt x="13645" y="7155"/>
                  <a:pt x="13893" y="7091"/>
                  <a:pt x="14086" y="7000"/>
                </a:cubicBezTo>
                <a:lnTo>
                  <a:pt x="14086" y="5995"/>
                </a:lnTo>
                <a:cubicBezTo>
                  <a:pt x="13844" y="5877"/>
                  <a:pt x="13522" y="5807"/>
                  <a:pt x="13167" y="5807"/>
                </a:cubicBezTo>
                <a:lnTo>
                  <a:pt x="12295" y="5807"/>
                </a:lnTo>
                <a:cubicBezTo>
                  <a:pt x="11897" y="5300"/>
                  <a:pt x="11494" y="4777"/>
                  <a:pt x="11097" y="4270"/>
                </a:cubicBezTo>
                <a:cubicBezTo>
                  <a:pt x="11387" y="4254"/>
                  <a:pt x="11645" y="4185"/>
                  <a:pt x="11849" y="4088"/>
                </a:cubicBezTo>
                <a:lnTo>
                  <a:pt x="11849" y="3084"/>
                </a:lnTo>
                <a:cubicBezTo>
                  <a:pt x="11607" y="2965"/>
                  <a:pt x="11285" y="2895"/>
                  <a:pt x="10930" y="2895"/>
                </a:cubicBezTo>
                <a:lnTo>
                  <a:pt x="10026" y="2895"/>
                </a:lnTo>
                <a:cubicBezTo>
                  <a:pt x="8983" y="1558"/>
                  <a:pt x="8161" y="496"/>
                  <a:pt x="8000" y="292"/>
                </a:cubicBezTo>
                <a:cubicBezTo>
                  <a:pt x="7865" y="119"/>
                  <a:pt x="7779" y="0"/>
                  <a:pt x="7574" y="0"/>
                </a:cubicBezTo>
                <a:cubicBezTo>
                  <a:pt x="7381" y="0"/>
                  <a:pt x="7133" y="0"/>
                  <a:pt x="6934" y="0"/>
                </a:cubicBezTo>
                <a:close/>
              </a:path>
            </a:pathLst>
          </a:custGeom>
          <a:solidFill>
            <a:srgbClr val="ED220D"/>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33" name="Shape"/>
          <p:cNvSpPr/>
          <p:nvPr/>
        </p:nvSpPr>
        <p:spPr>
          <a:xfrm>
            <a:off x="12991694" y="11162474"/>
            <a:ext cx="1187273" cy="1189197"/>
          </a:xfrm>
          <a:custGeom>
            <a:avLst/>
            <a:gdLst/>
            <a:ahLst/>
            <a:cxnLst>
              <a:cxn ang="0">
                <a:pos x="wd2" y="hd2"/>
              </a:cxn>
              <a:cxn ang="5400000">
                <a:pos x="wd2" y="hd2"/>
              </a:cxn>
              <a:cxn ang="10800000">
                <a:pos x="wd2" y="hd2"/>
              </a:cxn>
              <a:cxn ang="16200000">
                <a:pos x="wd2" y="hd2"/>
              </a:cxn>
            </a:cxnLst>
            <a:rect l="0" t="0" r="r" b="b"/>
            <a:pathLst>
              <a:path w="21506" h="21600" fill="norm" stroke="1" extrusionOk="0">
                <a:moveTo>
                  <a:pt x="6934" y="0"/>
                </a:moveTo>
                <a:cubicBezTo>
                  <a:pt x="6735" y="0"/>
                  <a:pt x="6650" y="145"/>
                  <a:pt x="6817" y="442"/>
                </a:cubicBezTo>
                <a:cubicBezTo>
                  <a:pt x="6956" y="690"/>
                  <a:pt x="9918" y="7392"/>
                  <a:pt x="10870" y="9549"/>
                </a:cubicBezTo>
                <a:lnTo>
                  <a:pt x="9220" y="9549"/>
                </a:lnTo>
                <a:lnTo>
                  <a:pt x="6875" y="9549"/>
                </a:lnTo>
                <a:cubicBezTo>
                  <a:pt x="5902" y="9549"/>
                  <a:pt x="4068" y="9760"/>
                  <a:pt x="2789" y="10083"/>
                </a:cubicBezTo>
                <a:cubicBezTo>
                  <a:pt x="2579" y="9830"/>
                  <a:pt x="1315" y="8276"/>
                  <a:pt x="1132" y="8012"/>
                </a:cubicBezTo>
                <a:cubicBezTo>
                  <a:pt x="933" y="7721"/>
                  <a:pt x="734" y="7754"/>
                  <a:pt x="567" y="7754"/>
                </a:cubicBezTo>
                <a:cubicBezTo>
                  <a:pt x="400" y="7754"/>
                  <a:pt x="444" y="7754"/>
                  <a:pt x="283" y="7754"/>
                </a:cubicBezTo>
                <a:cubicBezTo>
                  <a:pt x="116" y="7754"/>
                  <a:pt x="-88" y="7802"/>
                  <a:pt x="41" y="8120"/>
                </a:cubicBezTo>
                <a:cubicBezTo>
                  <a:pt x="219" y="8546"/>
                  <a:pt x="783" y="9922"/>
                  <a:pt x="1149" y="10801"/>
                </a:cubicBezTo>
                <a:cubicBezTo>
                  <a:pt x="783" y="11685"/>
                  <a:pt x="213" y="13054"/>
                  <a:pt x="41" y="13480"/>
                </a:cubicBezTo>
                <a:cubicBezTo>
                  <a:pt x="-88" y="13798"/>
                  <a:pt x="116" y="13847"/>
                  <a:pt x="283" y="13847"/>
                </a:cubicBezTo>
                <a:cubicBezTo>
                  <a:pt x="450" y="13847"/>
                  <a:pt x="406" y="13847"/>
                  <a:pt x="567" y="13847"/>
                </a:cubicBezTo>
                <a:cubicBezTo>
                  <a:pt x="734" y="13847"/>
                  <a:pt x="933" y="13879"/>
                  <a:pt x="1132" y="13588"/>
                </a:cubicBezTo>
                <a:cubicBezTo>
                  <a:pt x="1315" y="13318"/>
                  <a:pt x="2579" y="11770"/>
                  <a:pt x="2789" y="11517"/>
                </a:cubicBezTo>
                <a:cubicBezTo>
                  <a:pt x="4068" y="11841"/>
                  <a:pt x="5908" y="12051"/>
                  <a:pt x="6875" y="12051"/>
                </a:cubicBezTo>
                <a:lnTo>
                  <a:pt x="9095" y="12051"/>
                </a:lnTo>
                <a:lnTo>
                  <a:pt x="10876" y="12051"/>
                </a:lnTo>
                <a:cubicBezTo>
                  <a:pt x="9925" y="14203"/>
                  <a:pt x="6961" y="20911"/>
                  <a:pt x="6822" y="21159"/>
                </a:cubicBezTo>
                <a:cubicBezTo>
                  <a:pt x="6655" y="21455"/>
                  <a:pt x="6746" y="21600"/>
                  <a:pt x="6939" y="21600"/>
                </a:cubicBezTo>
                <a:cubicBezTo>
                  <a:pt x="7133" y="21600"/>
                  <a:pt x="7381" y="21600"/>
                  <a:pt x="7579" y="21600"/>
                </a:cubicBezTo>
                <a:cubicBezTo>
                  <a:pt x="7784" y="21600"/>
                  <a:pt x="7870" y="21481"/>
                  <a:pt x="8005" y="21308"/>
                </a:cubicBezTo>
                <a:cubicBezTo>
                  <a:pt x="8166" y="21104"/>
                  <a:pt x="8988" y="20048"/>
                  <a:pt x="10031" y="18705"/>
                </a:cubicBezTo>
                <a:lnTo>
                  <a:pt x="10930" y="18705"/>
                </a:lnTo>
                <a:cubicBezTo>
                  <a:pt x="11285" y="18705"/>
                  <a:pt x="11613" y="18635"/>
                  <a:pt x="11849" y="18516"/>
                </a:cubicBezTo>
                <a:lnTo>
                  <a:pt x="11849" y="17514"/>
                </a:lnTo>
                <a:cubicBezTo>
                  <a:pt x="11645" y="17417"/>
                  <a:pt x="11387" y="17352"/>
                  <a:pt x="11097" y="17330"/>
                </a:cubicBezTo>
                <a:cubicBezTo>
                  <a:pt x="11495" y="16823"/>
                  <a:pt x="11897" y="16300"/>
                  <a:pt x="12295" y="15794"/>
                </a:cubicBezTo>
                <a:lnTo>
                  <a:pt x="13162" y="15794"/>
                </a:lnTo>
                <a:cubicBezTo>
                  <a:pt x="13517" y="15793"/>
                  <a:pt x="13844" y="15723"/>
                  <a:pt x="14081" y="15605"/>
                </a:cubicBezTo>
                <a:lnTo>
                  <a:pt x="14081" y="14602"/>
                </a:lnTo>
                <a:cubicBezTo>
                  <a:pt x="13888" y="14511"/>
                  <a:pt x="13634" y="14445"/>
                  <a:pt x="13360" y="14424"/>
                </a:cubicBezTo>
                <a:cubicBezTo>
                  <a:pt x="14204" y="13340"/>
                  <a:pt x="14904" y="12445"/>
                  <a:pt x="15210" y="12051"/>
                </a:cubicBezTo>
                <a:lnTo>
                  <a:pt x="18635" y="12051"/>
                </a:lnTo>
                <a:cubicBezTo>
                  <a:pt x="20221" y="12051"/>
                  <a:pt x="21507" y="11491"/>
                  <a:pt x="21507" y="10801"/>
                </a:cubicBezTo>
                <a:cubicBezTo>
                  <a:pt x="21512" y="10111"/>
                  <a:pt x="20226" y="9549"/>
                  <a:pt x="18640" y="9549"/>
                </a:cubicBezTo>
                <a:lnTo>
                  <a:pt x="15215" y="9549"/>
                </a:lnTo>
                <a:cubicBezTo>
                  <a:pt x="14909" y="9155"/>
                  <a:pt x="14209" y="8260"/>
                  <a:pt x="13365" y="7176"/>
                </a:cubicBezTo>
                <a:cubicBezTo>
                  <a:pt x="13645" y="7155"/>
                  <a:pt x="13893" y="7091"/>
                  <a:pt x="14086" y="7000"/>
                </a:cubicBezTo>
                <a:lnTo>
                  <a:pt x="14086" y="5995"/>
                </a:lnTo>
                <a:cubicBezTo>
                  <a:pt x="13844" y="5877"/>
                  <a:pt x="13522" y="5807"/>
                  <a:pt x="13167" y="5807"/>
                </a:cubicBezTo>
                <a:lnTo>
                  <a:pt x="12295" y="5807"/>
                </a:lnTo>
                <a:cubicBezTo>
                  <a:pt x="11897" y="5300"/>
                  <a:pt x="11494" y="4777"/>
                  <a:pt x="11097" y="4270"/>
                </a:cubicBezTo>
                <a:cubicBezTo>
                  <a:pt x="11387" y="4254"/>
                  <a:pt x="11645" y="4185"/>
                  <a:pt x="11849" y="4088"/>
                </a:cubicBezTo>
                <a:lnTo>
                  <a:pt x="11849" y="3084"/>
                </a:lnTo>
                <a:cubicBezTo>
                  <a:pt x="11607" y="2965"/>
                  <a:pt x="11285" y="2895"/>
                  <a:pt x="10930" y="2895"/>
                </a:cubicBezTo>
                <a:lnTo>
                  <a:pt x="10026" y="2895"/>
                </a:lnTo>
                <a:cubicBezTo>
                  <a:pt x="8983" y="1558"/>
                  <a:pt x="8161" y="496"/>
                  <a:pt x="8000" y="292"/>
                </a:cubicBezTo>
                <a:cubicBezTo>
                  <a:pt x="7865" y="119"/>
                  <a:pt x="7779" y="0"/>
                  <a:pt x="7574" y="0"/>
                </a:cubicBezTo>
                <a:cubicBezTo>
                  <a:pt x="7381" y="0"/>
                  <a:pt x="7133" y="0"/>
                  <a:pt x="6934" y="0"/>
                </a:cubicBezTo>
                <a:close/>
              </a:path>
            </a:pathLst>
          </a:custGeom>
          <a:solidFill>
            <a:srgbClr val="ED220D"/>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34" name="Shape"/>
          <p:cNvSpPr/>
          <p:nvPr/>
        </p:nvSpPr>
        <p:spPr>
          <a:xfrm>
            <a:off x="6814194" y="9892703"/>
            <a:ext cx="1083048" cy="1083103"/>
          </a:xfrm>
          <a:custGeom>
            <a:avLst/>
            <a:gdLst/>
            <a:ahLst/>
            <a:cxnLst>
              <a:cxn ang="0">
                <a:pos x="wd2" y="hd2"/>
              </a:cxn>
              <a:cxn ang="5400000">
                <a:pos x="wd2" y="hd2"/>
              </a:cxn>
              <a:cxn ang="10800000">
                <a:pos x="wd2" y="hd2"/>
              </a:cxn>
              <a:cxn ang="16200000">
                <a:pos x="wd2" y="hd2"/>
              </a:cxn>
            </a:cxnLst>
            <a:rect l="0" t="0" r="r" b="b"/>
            <a:pathLst>
              <a:path w="21555" h="21595" fill="norm" stroke="1" extrusionOk="0">
                <a:moveTo>
                  <a:pt x="19354" y="0"/>
                </a:moveTo>
                <a:cubicBezTo>
                  <a:pt x="18843" y="-5"/>
                  <a:pt x="18248" y="122"/>
                  <a:pt x="17667" y="457"/>
                </a:cubicBezTo>
                <a:cubicBezTo>
                  <a:pt x="16993" y="846"/>
                  <a:pt x="15334" y="2001"/>
                  <a:pt x="14186" y="2806"/>
                </a:cubicBezTo>
                <a:lnTo>
                  <a:pt x="12476" y="2784"/>
                </a:lnTo>
                <a:lnTo>
                  <a:pt x="11744" y="1591"/>
                </a:lnTo>
                <a:cubicBezTo>
                  <a:pt x="11652" y="1440"/>
                  <a:pt x="11480" y="1359"/>
                  <a:pt x="11307" y="1375"/>
                </a:cubicBezTo>
                <a:lnTo>
                  <a:pt x="10806" y="1424"/>
                </a:lnTo>
                <a:lnTo>
                  <a:pt x="11286" y="2769"/>
                </a:lnTo>
                <a:lnTo>
                  <a:pt x="8623" y="2735"/>
                </a:lnTo>
                <a:cubicBezTo>
                  <a:pt x="8450" y="2735"/>
                  <a:pt x="8284" y="2767"/>
                  <a:pt x="8133" y="2843"/>
                </a:cubicBezTo>
                <a:lnTo>
                  <a:pt x="7449" y="3167"/>
                </a:lnTo>
                <a:cubicBezTo>
                  <a:pt x="7449" y="3167"/>
                  <a:pt x="10111" y="3589"/>
                  <a:pt x="11690" y="3903"/>
                </a:cubicBezTo>
                <a:lnTo>
                  <a:pt x="11851" y="4350"/>
                </a:lnTo>
                <a:lnTo>
                  <a:pt x="10267" y="4539"/>
                </a:lnTo>
                <a:lnTo>
                  <a:pt x="9632" y="5101"/>
                </a:lnTo>
                <a:lnTo>
                  <a:pt x="11986" y="5074"/>
                </a:lnTo>
                <a:lnTo>
                  <a:pt x="13495" y="5705"/>
                </a:lnTo>
                <a:lnTo>
                  <a:pt x="14071" y="5403"/>
                </a:lnTo>
                <a:lnTo>
                  <a:pt x="13625" y="5009"/>
                </a:lnTo>
                <a:cubicBezTo>
                  <a:pt x="14255" y="4912"/>
                  <a:pt x="15080" y="4680"/>
                  <a:pt x="15920" y="4129"/>
                </a:cubicBezTo>
                <a:cubicBezTo>
                  <a:pt x="15931" y="4123"/>
                  <a:pt x="15942" y="4112"/>
                  <a:pt x="15952" y="4107"/>
                </a:cubicBezTo>
                <a:lnTo>
                  <a:pt x="21040" y="3508"/>
                </a:lnTo>
                <a:lnTo>
                  <a:pt x="21508" y="3113"/>
                </a:lnTo>
                <a:cubicBezTo>
                  <a:pt x="21600" y="3037"/>
                  <a:pt x="21546" y="2887"/>
                  <a:pt x="21428" y="2887"/>
                </a:cubicBezTo>
                <a:lnTo>
                  <a:pt x="17877" y="2850"/>
                </a:lnTo>
                <a:cubicBezTo>
                  <a:pt x="19074" y="2062"/>
                  <a:pt x="20146" y="1348"/>
                  <a:pt x="20474" y="1132"/>
                </a:cubicBezTo>
                <a:cubicBezTo>
                  <a:pt x="21201" y="661"/>
                  <a:pt x="20480" y="11"/>
                  <a:pt x="19354" y="0"/>
                </a:cubicBezTo>
                <a:close/>
                <a:moveTo>
                  <a:pt x="2221" y="15"/>
                </a:moveTo>
                <a:lnTo>
                  <a:pt x="2221" y="965"/>
                </a:lnTo>
                <a:lnTo>
                  <a:pt x="1298" y="965"/>
                </a:lnTo>
                <a:lnTo>
                  <a:pt x="1810" y="2607"/>
                </a:lnTo>
                <a:lnTo>
                  <a:pt x="0" y="2607"/>
                </a:lnTo>
                <a:lnTo>
                  <a:pt x="1347" y="6352"/>
                </a:lnTo>
                <a:lnTo>
                  <a:pt x="1347" y="13938"/>
                </a:lnTo>
                <a:lnTo>
                  <a:pt x="0" y="13938"/>
                </a:lnTo>
                <a:lnTo>
                  <a:pt x="0" y="18971"/>
                </a:lnTo>
                <a:lnTo>
                  <a:pt x="21525" y="18971"/>
                </a:lnTo>
                <a:lnTo>
                  <a:pt x="21525" y="13938"/>
                </a:lnTo>
                <a:lnTo>
                  <a:pt x="4172" y="13938"/>
                </a:lnTo>
                <a:lnTo>
                  <a:pt x="4172" y="6548"/>
                </a:lnTo>
                <a:lnTo>
                  <a:pt x="5590" y="2607"/>
                </a:lnTo>
                <a:lnTo>
                  <a:pt x="3773" y="2607"/>
                </a:lnTo>
                <a:lnTo>
                  <a:pt x="4284" y="965"/>
                </a:lnTo>
                <a:lnTo>
                  <a:pt x="3299" y="965"/>
                </a:lnTo>
                <a:lnTo>
                  <a:pt x="3299" y="15"/>
                </a:lnTo>
                <a:lnTo>
                  <a:pt x="2221" y="15"/>
                </a:lnTo>
                <a:close/>
                <a:moveTo>
                  <a:pt x="0" y="20245"/>
                </a:moveTo>
                <a:lnTo>
                  <a:pt x="0" y="21595"/>
                </a:lnTo>
                <a:lnTo>
                  <a:pt x="21525" y="21595"/>
                </a:lnTo>
                <a:lnTo>
                  <a:pt x="21525" y="20245"/>
                </a:lnTo>
                <a:lnTo>
                  <a:pt x="0" y="20245"/>
                </a:lnTo>
                <a:close/>
              </a:path>
            </a:pathLst>
          </a:custGeom>
          <a:solidFill>
            <a:srgbClr val="5AC4F6"/>
          </a:solidFill>
          <a:ln w="12700">
            <a:miter lim="400000"/>
          </a:ln>
        </p:spPr>
        <p:txBody>
          <a:bodyPr lIns="127000" tIns="127000" rIns="127000" bIns="127000" anchor="ctr">
            <a:normAutofit fontScale="100000" lnSpcReduction="0"/>
          </a:bodyPr>
          <a:lstStyle/>
          <a:p>
            <a:pPr algn="ct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Helvetica"/>
                <a:ea typeface="Helvetica"/>
                <a:cs typeface="Helvetica"/>
                <a:sym typeface="Helvetica"/>
              </a:defRPr>
            </a:pPr>
          </a:p>
        </p:txBody>
      </p:sp>
      <p:sp>
        <p:nvSpPr>
          <p:cNvPr id="235" name="Shape"/>
          <p:cNvSpPr/>
          <p:nvPr/>
        </p:nvSpPr>
        <p:spPr>
          <a:xfrm>
            <a:off x="16448709" y="9840589"/>
            <a:ext cx="1083046" cy="1083103"/>
          </a:xfrm>
          <a:custGeom>
            <a:avLst/>
            <a:gdLst/>
            <a:ahLst/>
            <a:cxnLst>
              <a:cxn ang="0">
                <a:pos x="wd2" y="hd2"/>
              </a:cxn>
              <a:cxn ang="5400000">
                <a:pos x="wd2" y="hd2"/>
              </a:cxn>
              <a:cxn ang="10800000">
                <a:pos x="wd2" y="hd2"/>
              </a:cxn>
              <a:cxn ang="16200000">
                <a:pos x="wd2" y="hd2"/>
              </a:cxn>
            </a:cxnLst>
            <a:rect l="0" t="0" r="r" b="b"/>
            <a:pathLst>
              <a:path w="21555" h="21595" fill="norm" stroke="1" extrusionOk="0">
                <a:moveTo>
                  <a:pt x="19354" y="0"/>
                </a:moveTo>
                <a:cubicBezTo>
                  <a:pt x="18843" y="-5"/>
                  <a:pt x="18248" y="121"/>
                  <a:pt x="17667" y="457"/>
                </a:cubicBezTo>
                <a:cubicBezTo>
                  <a:pt x="16993" y="846"/>
                  <a:pt x="15334" y="2001"/>
                  <a:pt x="14186" y="2806"/>
                </a:cubicBezTo>
                <a:lnTo>
                  <a:pt x="12476" y="2784"/>
                </a:lnTo>
                <a:lnTo>
                  <a:pt x="11744" y="1591"/>
                </a:lnTo>
                <a:cubicBezTo>
                  <a:pt x="11652" y="1440"/>
                  <a:pt x="11480" y="1359"/>
                  <a:pt x="11307" y="1375"/>
                </a:cubicBezTo>
                <a:lnTo>
                  <a:pt x="10806" y="1424"/>
                </a:lnTo>
                <a:lnTo>
                  <a:pt x="11286" y="2769"/>
                </a:lnTo>
                <a:lnTo>
                  <a:pt x="8623" y="2735"/>
                </a:lnTo>
                <a:cubicBezTo>
                  <a:pt x="8450" y="2735"/>
                  <a:pt x="8284" y="2767"/>
                  <a:pt x="8133" y="2843"/>
                </a:cubicBezTo>
                <a:lnTo>
                  <a:pt x="7449" y="3167"/>
                </a:lnTo>
                <a:cubicBezTo>
                  <a:pt x="7449" y="3167"/>
                  <a:pt x="10111" y="3589"/>
                  <a:pt x="11690" y="3903"/>
                </a:cubicBezTo>
                <a:lnTo>
                  <a:pt x="11851" y="4350"/>
                </a:lnTo>
                <a:lnTo>
                  <a:pt x="10267" y="4539"/>
                </a:lnTo>
                <a:lnTo>
                  <a:pt x="9632" y="5100"/>
                </a:lnTo>
                <a:lnTo>
                  <a:pt x="11986" y="5073"/>
                </a:lnTo>
                <a:lnTo>
                  <a:pt x="13495" y="5705"/>
                </a:lnTo>
                <a:lnTo>
                  <a:pt x="14071" y="5402"/>
                </a:lnTo>
                <a:lnTo>
                  <a:pt x="13625" y="5009"/>
                </a:lnTo>
                <a:cubicBezTo>
                  <a:pt x="14255" y="4912"/>
                  <a:pt x="15080" y="4680"/>
                  <a:pt x="15920" y="4129"/>
                </a:cubicBezTo>
                <a:cubicBezTo>
                  <a:pt x="15931" y="4123"/>
                  <a:pt x="15942" y="4112"/>
                  <a:pt x="15952" y="4107"/>
                </a:cubicBezTo>
                <a:lnTo>
                  <a:pt x="21040" y="3508"/>
                </a:lnTo>
                <a:lnTo>
                  <a:pt x="21508" y="3113"/>
                </a:lnTo>
                <a:cubicBezTo>
                  <a:pt x="21600" y="3037"/>
                  <a:pt x="21546" y="2887"/>
                  <a:pt x="21428" y="2887"/>
                </a:cubicBezTo>
                <a:lnTo>
                  <a:pt x="17877" y="2850"/>
                </a:lnTo>
                <a:cubicBezTo>
                  <a:pt x="19074" y="2061"/>
                  <a:pt x="20146" y="1348"/>
                  <a:pt x="20474" y="1132"/>
                </a:cubicBezTo>
                <a:cubicBezTo>
                  <a:pt x="21201" y="661"/>
                  <a:pt x="20480" y="11"/>
                  <a:pt x="19354" y="0"/>
                </a:cubicBezTo>
                <a:close/>
                <a:moveTo>
                  <a:pt x="2221" y="15"/>
                </a:moveTo>
                <a:lnTo>
                  <a:pt x="2221" y="965"/>
                </a:lnTo>
                <a:lnTo>
                  <a:pt x="1298" y="965"/>
                </a:lnTo>
                <a:lnTo>
                  <a:pt x="1810" y="2607"/>
                </a:lnTo>
                <a:lnTo>
                  <a:pt x="0" y="2607"/>
                </a:lnTo>
                <a:lnTo>
                  <a:pt x="1347" y="6352"/>
                </a:lnTo>
                <a:lnTo>
                  <a:pt x="1347" y="13938"/>
                </a:lnTo>
                <a:lnTo>
                  <a:pt x="0" y="13938"/>
                </a:lnTo>
                <a:lnTo>
                  <a:pt x="0" y="18971"/>
                </a:lnTo>
                <a:lnTo>
                  <a:pt x="21525" y="18971"/>
                </a:lnTo>
                <a:lnTo>
                  <a:pt x="21525" y="13938"/>
                </a:lnTo>
                <a:lnTo>
                  <a:pt x="4172" y="13938"/>
                </a:lnTo>
                <a:lnTo>
                  <a:pt x="4172" y="6548"/>
                </a:lnTo>
                <a:lnTo>
                  <a:pt x="5590" y="2607"/>
                </a:lnTo>
                <a:lnTo>
                  <a:pt x="3773" y="2607"/>
                </a:lnTo>
                <a:lnTo>
                  <a:pt x="4285" y="965"/>
                </a:lnTo>
                <a:lnTo>
                  <a:pt x="3299" y="965"/>
                </a:lnTo>
                <a:lnTo>
                  <a:pt x="3299" y="15"/>
                </a:lnTo>
                <a:lnTo>
                  <a:pt x="2221" y="15"/>
                </a:lnTo>
                <a:close/>
                <a:moveTo>
                  <a:pt x="0" y="20245"/>
                </a:moveTo>
                <a:lnTo>
                  <a:pt x="0" y="21595"/>
                </a:lnTo>
                <a:lnTo>
                  <a:pt x="21525" y="21595"/>
                </a:lnTo>
                <a:lnTo>
                  <a:pt x="21525" y="20245"/>
                </a:lnTo>
                <a:lnTo>
                  <a:pt x="0" y="20245"/>
                </a:lnTo>
                <a:close/>
              </a:path>
            </a:pathLst>
          </a:custGeom>
          <a:solidFill>
            <a:srgbClr val="5AC4F6"/>
          </a:solidFill>
          <a:ln w="12700">
            <a:miter lim="400000"/>
          </a:ln>
        </p:spPr>
        <p:txBody>
          <a:bodyPr lIns="127000" tIns="127000" rIns="127000" bIns="127000" anchor="ctr">
            <a:normAutofit fontScale="100000" lnSpcReduction="0"/>
          </a:bodyPr>
          <a:lstStyle/>
          <a:p>
            <a:pPr algn="ct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Helvetica"/>
                <a:ea typeface="Helvetica"/>
                <a:cs typeface="Helvetica"/>
                <a:sym typeface="Helvetica"/>
              </a:defRPr>
            </a:pPr>
          </a:p>
        </p:txBody>
      </p:sp>
      <p:sp>
        <p:nvSpPr>
          <p:cNvPr id="236" name="Shape"/>
          <p:cNvSpPr/>
          <p:nvPr/>
        </p:nvSpPr>
        <p:spPr>
          <a:xfrm flipH="1">
            <a:off x="6926692" y="2842887"/>
            <a:ext cx="1412128" cy="824109"/>
          </a:xfrm>
          <a:custGeom>
            <a:avLst/>
            <a:gdLst/>
            <a:ahLst/>
            <a:cxnLst>
              <a:cxn ang="0">
                <a:pos x="wd2" y="hd2"/>
              </a:cxn>
              <a:cxn ang="5400000">
                <a:pos x="wd2" y="hd2"/>
              </a:cxn>
              <a:cxn ang="10800000">
                <a:pos x="wd2" y="hd2"/>
              </a:cxn>
              <a:cxn ang="16200000">
                <a:pos x="wd2" y="hd2"/>
              </a:cxn>
            </a:cxnLst>
            <a:rect l="0" t="0" r="r" b="b"/>
            <a:pathLst>
              <a:path w="21262" h="21600" fill="norm" stroke="1" extrusionOk="0">
                <a:moveTo>
                  <a:pt x="5093" y="0"/>
                </a:moveTo>
                <a:cubicBezTo>
                  <a:pt x="4666" y="0"/>
                  <a:pt x="4320" y="604"/>
                  <a:pt x="4320" y="1348"/>
                </a:cubicBezTo>
                <a:cubicBezTo>
                  <a:pt x="4320" y="2091"/>
                  <a:pt x="4666" y="2695"/>
                  <a:pt x="5093" y="2695"/>
                </a:cubicBezTo>
                <a:lnTo>
                  <a:pt x="10397" y="2695"/>
                </a:lnTo>
                <a:cubicBezTo>
                  <a:pt x="10631" y="2695"/>
                  <a:pt x="10839" y="2508"/>
                  <a:pt x="10981" y="2221"/>
                </a:cubicBezTo>
                <a:lnTo>
                  <a:pt x="12234" y="2221"/>
                </a:lnTo>
                <a:lnTo>
                  <a:pt x="12234" y="4988"/>
                </a:lnTo>
                <a:lnTo>
                  <a:pt x="5055" y="4988"/>
                </a:lnTo>
                <a:cubicBezTo>
                  <a:pt x="4702" y="3216"/>
                  <a:pt x="3736" y="1937"/>
                  <a:pt x="2600" y="1937"/>
                </a:cubicBezTo>
                <a:cubicBezTo>
                  <a:pt x="1166" y="1937"/>
                  <a:pt x="0" y="3968"/>
                  <a:pt x="0" y="6463"/>
                </a:cubicBezTo>
                <a:cubicBezTo>
                  <a:pt x="0" y="8958"/>
                  <a:pt x="1166" y="10988"/>
                  <a:pt x="2600" y="10988"/>
                </a:cubicBezTo>
                <a:cubicBezTo>
                  <a:pt x="3487" y="10988"/>
                  <a:pt x="4272" y="10208"/>
                  <a:pt x="4741" y="9022"/>
                </a:cubicBezTo>
                <a:lnTo>
                  <a:pt x="8988" y="11960"/>
                </a:lnTo>
                <a:cubicBezTo>
                  <a:pt x="8988" y="11960"/>
                  <a:pt x="9368" y="12499"/>
                  <a:pt x="9453" y="13775"/>
                </a:cubicBezTo>
                <a:cubicBezTo>
                  <a:pt x="9453" y="13775"/>
                  <a:pt x="9792" y="16230"/>
                  <a:pt x="11033" y="16230"/>
                </a:cubicBezTo>
                <a:lnTo>
                  <a:pt x="19531" y="16230"/>
                </a:lnTo>
                <a:cubicBezTo>
                  <a:pt x="19531" y="16230"/>
                  <a:pt x="21600" y="16232"/>
                  <a:pt x="20791" y="12648"/>
                </a:cubicBezTo>
                <a:lnTo>
                  <a:pt x="19692" y="7981"/>
                </a:lnTo>
                <a:cubicBezTo>
                  <a:pt x="19692" y="7981"/>
                  <a:pt x="19015" y="4988"/>
                  <a:pt x="16674" y="4988"/>
                </a:cubicBezTo>
                <a:lnTo>
                  <a:pt x="13395" y="4988"/>
                </a:lnTo>
                <a:lnTo>
                  <a:pt x="13395" y="2221"/>
                </a:lnTo>
                <a:lnTo>
                  <a:pt x="14602" y="2221"/>
                </a:lnTo>
                <a:cubicBezTo>
                  <a:pt x="14744" y="2508"/>
                  <a:pt x="14952" y="2695"/>
                  <a:pt x="15187" y="2695"/>
                </a:cubicBezTo>
                <a:lnTo>
                  <a:pt x="20487" y="2695"/>
                </a:lnTo>
                <a:cubicBezTo>
                  <a:pt x="20915" y="2695"/>
                  <a:pt x="21262" y="2091"/>
                  <a:pt x="21262" y="1348"/>
                </a:cubicBezTo>
                <a:cubicBezTo>
                  <a:pt x="21262" y="604"/>
                  <a:pt x="20915" y="0"/>
                  <a:pt x="20487" y="0"/>
                </a:cubicBezTo>
                <a:lnTo>
                  <a:pt x="15187" y="0"/>
                </a:lnTo>
                <a:cubicBezTo>
                  <a:pt x="14935" y="0"/>
                  <a:pt x="14714" y="214"/>
                  <a:pt x="14572" y="538"/>
                </a:cubicBezTo>
                <a:lnTo>
                  <a:pt x="11011" y="538"/>
                </a:lnTo>
                <a:cubicBezTo>
                  <a:pt x="10870" y="214"/>
                  <a:pt x="10648" y="0"/>
                  <a:pt x="10397" y="0"/>
                </a:cubicBezTo>
                <a:lnTo>
                  <a:pt x="5093" y="0"/>
                </a:lnTo>
                <a:close/>
                <a:moveTo>
                  <a:pt x="2600" y="3956"/>
                </a:moveTo>
                <a:cubicBezTo>
                  <a:pt x="3076" y="3956"/>
                  <a:pt x="3498" y="4364"/>
                  <a:pt x="3761" y="4988"/>
                </a:cubicBezTo>
                <a:lnTo>
                  <a:pt x="2571" y="4988"/>
                </a:lnTo>
                <a:cubicBezTo>
                  <a:pt x="2571" y="4988"/>
                  <a:pt x="2091" y="5232"/>
                  <a:pt x="2091" y="6067"/>
                </a:cubicBezTo>
                <a:cubicBezTo>
                  <a:pt x="2091" y="6067"/>
                  <a:pt x="2064" y="7247"/>
                  <a:pt x="2600" y="7541"/>
                </a:cubicBezTo>
                <a:lnTo>
                  <a:pt x="3613" y="8241"/>
                </a:lnTo>
                <a:cubicBezTo>
                  <a:pt x="3352" y="8690"/>
                  <a:pt x="2994" y="8967"/>
                  <a:pt x="2600" y="8967"/>
                </a:cubicBezTo>
                <a:cubicBezTo>
                  <a:pt x="1806" y="8967"/>
                  <a:pt x="1159" y="7845"/>
                  <a:pt x="1159" y="6463"/>
                </a:cubicBezTo>
                <a:cubicBezTo>
                  <a:pt x="1159" y="5081"/>
                  <a:pt x="1806" y="3956"/>
                  <a:pt x="2600" y="3956"/>
                </a:cubicBezTo>
                <a:close/>
                <a:moveTo>
                  <a:pt x="13328" y="6732"/>
                </a:moveTo>
                <a:lnTo>
                  <a:pt x="14843" y="6732"/>
                </a:lnTo>
                <a:lnTo>
                  <a:pt x="14843" y="10979"/>
                </a:lnTo>
                <a:lnTo>
                  <a:pt x="13328" y="10979"/>
                </a:lnTo>
                <a:lnTo>
                  <a:pt x="13328" y="6732"/>
                </a:lnTo>
                <a:close/>
                <a:moveTo>
                  <a:pt x="15352" y="6732"/>
                </a:moveTo>
                <a:lnTo>
                  <a:pt x="16866" y="6732"/>
                </a:lnTo>
                <a:lnTo>
                  <a:pt x="16866" y="10979"/>
                </a:lnTo>
                <a:lnTo>
                  <a:pt x="15352" y="10979"/>
                </a:lnTo>
                <a:lnTo>
                  <a:pt x="15352" y="6732"/>
                </a:lnTo>
                <a:close/>
                <a:moveTo>
                  <a:pt x="17401" y="6732"/>
                </a:moveTo>
                <a:cubicBezTo>
                  <a:pt x="18774" y="6732"/>
                  <a:pt x="19194" y="10979"/>
                  <a:pt x="19194" y="10979"/>
                </a:cubicBezTo>
                <a:lnTo>
                  <a:pt x="17401" y="10979"/>
                </a:lnTo>
                <a:lnTo>
                  <a:pt x="17401" y="6732"/>
                </a:lnTo>
                <a:close/>
                <a:moveTo>
                  <a:pt x="9965" y="18095"/>
                </a:moveTo>
                <a:cubicBezTo>
                  <a:pt x="9833" y="18095"/>
                  <a:pt x="9725" y="18283"/>
                  <a:pt x="9725" y="18512"/>
                </a:cubicBezTo>
                <a:lnTo>
                  <a:pt x="9725" y="21184"/>
                </a:lnTo>
                <a:cubicBezTo>
                  <a:pt x="9725" y="21413"/>
                  <a:pt x="9833" y="21600"/>
                  <a:pt x="9965" y="21600"/>
                </a:cubicBezTo>
                <a:lnTo>
                  <a:pt x="20740" y="21600"/>
                </a:lnTo>
                <a:cubicBezTo>
                  <a:pt x="20872" y="21600"/>
                  <a:pt x="20979" y="21413"/>
                  <a:pt x="20979" y="21184"/>
                </a:cubicBezTo>
                <a:lnTo>
                  <a:pt x="20979" y="18512"/>
                </a:lnTo>
                <a:cubicBezTo>
                  <a:pt x="20979" y="18283"/>
                  <a:pt x="20872" y="18095"/>
                  <a:pt x="20740" y="18095"/>
                </a:cubicBezTo>
                <a:lnTo>
                  <a:pt x="9965" y="18095"/>
                </a:lnTo>
                <a:close/>
              </a:path>
            </a:pathLst>
          </a:custGeom>
          <a:solidFill>
            <a:srgbClr val="00A1FF"/>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7" name="Shape"/>
          <p:cNvSpPr/>
          <p:nvPr/>
        </p:nvSpPr>
        <p:spPr>
          <a:xfrm flipH="1">
            <a:off x="10142701" y="2094195"/>
            <a:ext cx="1412128" cy="824109"/>
          </a:xfrm>
          <a:custGeom>
            <a:avLst/>
            <a:gdLst/>
            <a:ahLst/>
            <a:cxnLst>
              <a:cxn ang="0">
                <a:pos x="wd2" y="hd2"/>
              </a:cxn>
              <a:cxn ang="5400000">
                <a:pos x="wd2" y="hd2"/>
              </a:cxn>
              <a:cxn ang="10800000">
                <a:pos x="wd2" y="hd2"/>
              </a:cxn>
              <a:cxn ang="16200000">
                <a:pos x="wd2" y="hd2"/>
              </a:cxn>
            </a:cxnLst>
            <a:rect l="0" t="0" r="r" b="b"/>
            <a:pathLst>
              <a:path w="21262" h="21600" fill="norm" stroke="1" extrusionOk="0">
                <a:moveTo>
                  <a:pt x="5093" y="0"/>
                </a:moveTo>
                <a:cubicBezTo>
                  <a:pt x="4666" y="0"/>
                  <a:pt x="4320" y="604"/>
                  <a:pt x="4320" y="1348"/>
                </a:cubicBezTo>
                <a:cubicBezTo>
                  <a:pt x="4320" y="2091"/>
                  <a:pt x="4666" y="2695"/>
                  <a:pt x="5093" y="2695"/>
                </a:cubicBezTo>
                <a:lnTo>
                  <a:pt x="10397" y="2695"/>
                </a:lnTo>
                <a:cubicBezTo>
                  <a:pt x="10631" y="2695"/>
                  <a:pt x="10839" y="2508"/>
                  <a:pt x="10981" y="2221"/>
                </a:cubicBezTo>
                <a:lnTo>
                  <a:pt x="12234" y="2221"/>
                </a:lnTo>
                <a:lnTo>
                  <a:pt x="12234" y="4988"/>
                </a:lnTo>
                <a:lnTo>
                  <a:pt x="5055" y="4988"/>
                </a:lnTo>
                <a:cubicBezTo>
                  <a:pt x="4702" y="3216"/>
                  <a:pt x="3736" y="1937"/>
                  <a:pt x="2600" y="1937"/>
                </a:cubicBezTo>
                <a:cubicBezTo>
                  <a:pt x="1166" y="1937"/>
                  <a:pt x="0" y="3968"/>
                  <a:pt x="0" y="6463"/>
                </a:cubicBezTo>
                <a:cubicBezTo>
                  <a:pt x="0" y="8958"/>
                  <a:pt x="1166" y="10988"/>
                  <a:pt x="2600" y="10988"/>
                </a:cubicBezTo>
                <a:cubicBezTo>
                  <a:pt x="3487" y="10988"/>
                  <a:pt x="4272" y="10208"/>
                  <a:pt x="4741" y="9022"/>
                </a:cubicBezTo>
                <a:lnTo>
                  <a:pt x="8988" y="11960"/>
                </a:lnTo>
                <a:cubicBezTo>
                  <a:pt x="8988" y="11960"/>
                  <a:pt x="9368" y="12499"/>
                  <a:pt x="9453" y="13775"/>
                </a:cubicBezTo>
                <a:cubicBezTo>
                  <a:pt x="9453" y="13775"/>
                  <a:pt x="9792" y="16230"/>
                  <a:pt x="11033" y="16230"/>
                </a:cubicBezTo>
                <a:lnTo>
                  <a:pt x="19531" y="16230"/>
                </a:lnTo>
                <a:cubicBezTo>
                  <a:pt x="19531" y="16230"/>
                  <a:pt x="21600" y="16232"/>
                  <a:pt x="20791" y="12648"/>
                </a:cubicBezTo>
                <a:lnTo>
                  <a:pt x="19692" y="7981"/>
                </a:lnTo>
                <a:cubicBezTo>
                  <a:pt x="19692" y="7981"/>
                  <a:pt x="19015" y="4988"/>
                  <a:pt x="16674" y="4988"/>
                </a:cubicBezTo>
                <a:lnTo>
                  <a:pt x="13395" y="4988"/>
                </a:lnTo>
                <a:lnTo>
                  <a:pt x="13395" y="2221"/>
                </a:lnTo>
                <a:lnTo>
                  <a:pt x="14602" y="2221"/>
                </a:lnTo>
                <a:cubicBezTo>
                  <a:pt x="14744" y="2508"/>
                  <a:pt x="14952" y="2695"/>
                  <a:pt x="15187" y="2695"/>
                </a:cubicBezTo>
                <a:lnTo>
                  <a:pt x="20487" y="2695"/>
                </a:lnTo>
                <a:cubicBezTo>
                  <a:pt x="20915" y="2695"/>
                  <a:pt x="21262" y="2091"/>
                  <a:pt x="21262" y="1348"/>
                </a:cubicBezTo>
                <a:cubicBezTo>
                  <a:pt x="21262" y="604"/>
                  <a:pt x="20915" y="0"/>
                  <a:pt x="20487" y="0"/>
                </a:cubicBezTo>
                <a:lnTo>
                  <a:pt x="15187" y="0"/>
                </a:lnTo>
                <a:cubicBezTo>
                  <a:pt x="14935" y="0"/>
                  <a:pt x="14714" y="214"/>
                  <a:pt x="14572" y="538"/>
                </a:cubicBezTo>
                <a:lnTo>
                  <a:pt x="11011" y="538"/>
                </a:lnTo>
                <a:cubicBezTo>
                  <a:pt x="10870" y="214"/>
                  <a:pt x="10648" y="0"/>
                  <a:pt x="10397" y="0"/>
                </a:cubicBezTo>
                <a:lnTo>
                  <a:pt x="5093" y="0"/>
                </a:lnTo>
                <a:close/>
                <a:moveTo>
                  <a:pt x="2600" y="3956"/>
                </a:moveTo>
                <a:cubicBezTo>
                  <a:pt x="3076" y="3956"/>
                  <a:pt x="3498" y="4364"/>
                  <a:pt x="3761" y="4988"/>
                </a:cubicBezTo>
                <a:lnTo>
                  <a:pt x="2571" y="4988"/>
                </a:lnTo>
                <a:cubicBezTo>
                  <a:pt x="2571" y="4988"/>
                  <a:pt x="2091" y="5232"/>
                  <a:pt x="2091" y="6067"/>
                </a:cubicBezTo>
                <a:cubicBezTo>
                  <a:pt x="2091" y="6067"/>
                  <a:pt x="2064" y="7247"/>
                  <a:pt x="2600" y="7541"/>
                </a:cubicBezTo>
                <a:lnTo>
                  <a:pt x="3613" y="8241"/>
                </a:lnTo>
                <a:cubicBezTo>
                  <a:pt x="3352" y="8690"/>
                  <a:pt x="2994" y="8967"/>
                  <a:pt x="2600" y="8967"/>
                </a:cubicBezTo>
                <a:cubicBezTo>
                  <a:pt x="1806" y="8967"/>
                  <a:pt x="1159" y="7845"/>
                  <a:pt x="1159" y="6463"/>
                </a:cubicBezTo>
                <a:cubicBezTo>
                  <a:pt x="1159" y="5081"/>
                  <a:pt x="1806" y="3956"/>
                  <a:pt x="2600" y="3956"/>
                </a:cubicBezTo>
                <a:close/>
                <a:moveTo>
                  <a:pt x="13328" y="6732"/>
                </a:moveTo>
                <a:lnTo>
                  <a:pt x="14843" y="6732"/>
                </a:lnTo>
                <a:lnTo>
                  <a:pt x="14843" y="10979"/>
                </a:lnTo>
                <a:lnTo>
                  <a:pt x="13328" y="10979"/>
                </a:lnTo>
                <a:lnTo>
                  <a:pt x="13328" y="6732"/>
                </a:lnTo>
                <a:close/>
                <a:moveTo>
                  <a:pt x="15352" y="6732"/>
                </a:moveTo>
                <a:lnTo>
                  <a:pt x="16866" y="6732"/>
                </a:lnTo>
                <a:lnTo>
                  <a:pt x="16866" y="10979"/>
                </a:lnTo>
                <a:lnTo>
                  <a:pt x="15352" y="10979"/>
                </a:lnTo>
                <a:lnTo>
                  <a:pt x="15352" y="6732"/>
                </a:lnTo>
                <a:close/>
                <a:moveTo>
                  <a:pt x="17401" y="6732"/>
                </a:moveTo>
                <a:cubicBezTo>
                  <a:pt x="18774" y="6732"/>
                  <a:pt x="19194" y="10979"/>
                  <a:pt x="19194" y="10979"/>
                </a:cubicBezTo>
                <a:lnTo>
                  <a:pt x="17401" y="10979"/>
                </a:lnTo>
                <a:lnTo>
                  <a:pt x="17401" y="6732"/>
                </a:lnTo>
                <a:close/>
                <a:moveTo>
                  <a:pt x="9965" y="18095"/>
                </a:moveTo>
                <a:cubicBezTo>
                  <a:pt x="9833" y="18095"/>
                  <a:pt x="9725" y="18283"/>
                  <a:pt x="9725" y="18512"/>
                </a:cubicBezTo>
                <a:lnTo>
                  <a:pt x="9725" y="21184"/>
                </a:lnTo>
                <a:cubicBezTo>
                  <a:pt x="9725" y="21413"/>
                  <a:pt x="9833" y="21600"/>
                  <a:pt x="9965" y="21600"/>
                </a:cubicBezTo>
                <a:lnTo>
                  <a:pt x="20740" y="21600"/>
                </a:lnTo>
                <a:cubicBezTo>
                  <a:pt x="20872" y="21600"/>
                  <a:pt x="20979" y="21413"/>
                  <a:pt x="20979" y="21184"/>
                </a:cubicBezTo>
                <a:lnTo>
                  <a:pt x="20979" y="18512"/>
                </a:lnTo>
                <a:cubicBezTo>
                  <a:pt x="20979" y="18283"/>
                  <a:pt x="20872" y="18095"/>
                  <a:pt x="20740" y="18095"/>
                </a:cubicBezTo>
                <a:lnTo>
                  <a:pt x="9965" y="18095"/>
                </a:lnTo>
                <a:close/>
              </a:path>
            </a:pathLst>
          </a:custGeom>
          <a:solidFill>
            <a:srgbClr val="00A1FF"/>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8" name="Shape"/>
          <p:cNvSpPr/>
          <p:nvPr/>
        </p:nvSpPr>
        <p:spPr>
          <a:xfrm flipH="1">
            <a:off x="12879267" y="2094195"/>
            <a:ext cx="1412127" cy="824109"/>
          </a:xfrm>
          <a:custGeom>
            <a:avLst/>
            <a:gdLst/>
            <a:ahLst/>
            <a:cxnLst>
              <a:cxn ang="0">
                <a:pos x="wd2" y="hd2"/>
              </a:cxn>
              <a:cxn ang="5400000">
                <a:pos x="wd2" y="hd2"/>
              </a:cxn>
              <a:cxn ang="10800000">
                <a:pos x="wd2" y="hd2"/>
              </a:cxn>
              <a:cxn ang="16200000">
                <a:pos x="wd2" y="hd2"/>
              </a:cxn>
            </a:cxnLst>
            <a:rect l="0" t="0" r="r" b="b"/>
            <a:pathLst>
              <a:path w="21262" h="21600" fill="norm" stroke="1" extrusionOk="0">
                <a:moveTo>
                  <a:pt x="5093" y="0"/>
                </a:moveTo>
                <a:cubicBezTo>
                  <a:pt x="4666" y="0"/>
                  <a:pt x="4320" y="604"/>
                  <a:pt x="4320" y="1348"/>
                </a:cubicBezTo>
                <a:cubicBezTo>
                  <a:pt x="4320" y="2091"/>
                  <a:pt x="4666" y="2695"/>
                  <a:pt x="5093" y="2695"/>
                </a:cubicBezTo>
                <a:lnTo>
                  <a:pt x="10397" y="2695"/>
                </a:lnTo>
                <a:cubicBezTo>
                  <a:pt x="10631" y="2695"/>
                  <a:pt x="10839" y="2508"/>
                  <a:pt x="10981" y="2221"/>
                </a:cubicBezTo>
                <a:lnTo>
                  <a:pt x="12234" y="2221"/>
                </a:lnTo>
                <a:lnTo>
                  <a:pt x="12234" y="4988"/>
                </a:lnTo>
                <a:lnTo>
                  <a:pt x="5055" y="4988"/>
                </a:lnTo>
                <a:cubicBezTo>
                  <a:pt x="4702" y="3216"/>
                  <a:pt x="3736" y="1937"/>
                  <a:pt x="2600" y="1937"/>
                </a:cubicBezTo>
                <a:cubicBezTo>
                  <a:pt x="1166" y="1937"/>
                  <a:pt x="0" y="3968"/>
                  <a:pt x="0" y="6463"/>
                </a:cubicBezTo>
                <a:cubicBezTo>
                  <a:pt x="0" y="8958"/>
                  <a:pt x="1166" y="10988"/>
                  <a:pt x="2600" y="10988"/>
                </a:cubicBezTo>
                <a:cubicBezTo>
                  <a:pt x="3487" y="10988"/>
                  <a:pt x="4272" y="10208"/>
                  <a:pt x="4741" y="9022"/>
                </a:cubicBezTo>
                <a:lnTo>
                  <a:pt x="8988" y="11960"/>
                </a:lnTo>
                <a:cubicBezTo>
                  <a:pt x="8988" y="11960"/>
                  <a:pt x="9368" y="12499"/>
                  <a:pt x="9453" y="13775"/>
                </a:cubicBezTo>
                <a:cubicBezTo>
                  <a:pt x="9453" y="13775"/>
                  <a:pt x="9792" y="16230"/>
                  <a:pt x="11033" y="16230"/>
                </a:cubicBezTo>
                <a:lnTo>
                  <a:pt x="19531" y="16230"/>
                </a:lnTo>
                <a:cubicBezTo>
                  <a:pt x="19531" y="16230"/>
                  <a:pt x="21600" y="16232"/>
                  <a:pt x="20791" y="12648"/>
                </a:cubicBezTo>
                <a:lnTo>
                  <a:pt x="19692" y="7981"/>
                </a:lnTo>
                <a:cubicBezTo>
                  <a:pt x="19692" y="7981"/>
                  <a:pt x="19015" y="4988"/>
                  <a:pt x="16674" y="4988"/>
                </a:cubicBezTo>
                <a:lnTo>
                  <a:pt x="13395" y="4988"/>
                </a:lnTo>
                <a:lnTo>
                  <a:pt x="13395" y="2221"/>
                </a:lnTo>
                <a:lnTo>
                  <a:pt x="14602" y="2221"/>
                </a:lnTo>
                <a:cubicBezTo>
                  <a:pt x="14744" y="2508"/>
                  <a:pt x="14952" y="2695"/>
                  <a:pt x="15187" y="2695"/>
                </a:cubicBezTo>
                <a:lnTo>
                  <a:pt x="20487" y="2695"/>
                </a:lnTo>
                <a:cubicBezTo>
                  <a:pt x="20915" y="2695"/>
                  <a:pt x="21262" y="2091"/>
                  <a:pt x="21262" y="1348"/>
                </a:cubicBezTo>
                <a:cubicBezTo>
                  <a:pt x="21262" y="604"/>
                  <a:pt x="20915" y="0"/>
                  <a:pt x="20487" y="0"/>
                </a:cubicBezTo>
                <a:lnTo>
                  <a:pt x="15187" y="0"/>
                </a:lnTo>
                <a:cubicBezTo>
                  <a:pt x="14935" y="0"/>
                  <a:pt x="14714" y="214"/>
                  <a:pt x="14572" y="538"/>
                </a:cubicBezTo>
                <a:lnTo>
                  <a:pt x="11011" y="538"/>
                </a:lnTo>
                <a:cubicBezTo>
                  <a:pt x="10870" y="214"/>
                  <a:pt x="10648" y="0"/>
                  <a:pt x="10397" y="0"/>
                </a:cubicBezTo>
                <a:lnTo>
                  <a:pt x="5093" y="0"/>
                </a:lnTo>
                <a:close/>
                <a:moveTo>
                  <a:pt x="2600" y="3956"/>
                </a:moveTo>
                <a:cubicBezTo>
                  <a:pt x="3076" y="3956"/>
                  <a:pt x="3498" y="4364"/>
                  <a:pt x="3761" y="4988"/>
                </a:cubicBezTo>
                <a:lnTo>
                  <a:pt x="2571" y="4988"/>
                </a:lnTo>
                <a:cubicBezTo>
                  <a:pt x="2571" y="4988"/>
                  <a:pt x="2091" y="5232"/>
                  <a:pt x="2091" y="6067"/>
                </a:cubicBezTo>
                <a:cubicBezTo>
                  <a:pt x="2091" y="6067"/>
                  <a:pt x="2064" y="7247"/>
                  <a:pt x="2600" y="7541"/>
                </a:cubicBezTo>
                <a:lnTo>
                  <a:pt x="3613" y="8241"/>
                </a:lnTo>
                <a:cubicBezTo>
                  <a:pt x="3352" y="8690"/>
                  <a:pt x="2994" y="8967"/>
                  <a:pt x="2600" y="8967"/>
                </a:cubicBezTo>
                <a:cubicBezTo>
                  <a:pt x="1806" y="8967"/>
                  <a:pt x="1159" y="7845"/>
                  <a:pt x="1159" y="6463"/>
                </a:cubicBezTo>
                <a:cubicBezTo>
                  <a:pt x="1159" y="5081"/>
                  <a:pt x="1806" y="3956"/>
                  <a:pt x="2600" y="3956"/>
                </a:cubicBezTo>
                <a:close/>
                <a:moveTo>
                  <a:pt x="13328" y="6732"/>
                </a:moveTo>
                <a:lnTo>
                  <a:pt x="14843" y="6732"/>
                </a:lnTo>
                <a:lnTo>
                  <a:pt x="14843" y="10979"/>
                </a:lnTo>
                <a:lnTo>
                  <a:pt x="13328" y="10979"/>
                </a:lnTo>
                <a:lnTo>
                  <a:pt x="13328" y="6732"/>
                </a:lnTo>
                <a:close/>
                <a:moveTo>
                  <a:pt x="15352" y="6732"/>
                </a:moveTo>
                <a:lnTo>
                  <a:pt x="16866" y="6732"/>
                </a:lnTo>
                <a:lnTo>
                  <a:pt x="16866" y="10979"/>
                </a:lnTo>
                <a:lnTo>
                  <a:pt x="15352" y="10979"/>
                </a:lnTo>
                <a:lnTo>
                  <a:pt x="15352" y="6732"/>
                </a:lnTo>
                <a:close/>
                <a:moveTo>
                  <a:pt x="17401" y="6732"/>
                </a:moveTo>
                <a:cubicBezTo>
                  <a:pt x="18774" y="6732"/>
                  <a:pt x="19194" y="10979"/>
                  <a:pt x="19194" y="10979"/>
                </a:cubicBezTo>
                <a:lnTo>
                  <a:pt x="17401" y="10979"/>
                </a:lnTo>
                <a:lnTo>
                  <a:pt x="17401" y="6732"/>
                </a:lnTo>
                <a:close/>
                <a:moveTo>
                  <a:pt x="9965" y="18095"/>
                </a:moveTo>
                <a:cubicBezTo>
                  <a:pt x="9833" y="18095"/>
                  <a:pt x="9725" y="18283"/>
                  <a:pt x="9725" y="18512"/>
                </a:cubicBezTo>
                <a:lnTo>
                  <a:pt x="9725" y="21184"/>
                </a:lnTo>
                <a:cubicBezTo>
                  <a:pt x="9725" y="21413"/>
                  <a:pt x="9833" y="21600"/>
                  <a:pt x="9965" y="21600"/>
                </a:cubicBezTo>
                <a:lnTo>
                  <a:pt x="20740" y="21600"/>
                </a:lnTo>
                <a:cubicBezTo>
                  <a:pt x="20872" y="21600"/>
                  <a:pt x="20979" y="21413"/>
                  <a:pt x="20979" y="21184"/>
                </a:cubicBezTo>
                <a:lnTo>
                  <a:pt x="20979" y="18512"/>
                </a:lnTo>
                <a:cubicBezTo>
                  <a:pt x="20979" y="18283"/>
                  <a:pt x="20872" y="18095"/>
                  <a:pt x="20740" y="18095"/>
                </a:cubicBezTo>
                <a:lnTo>
                  <a:pt x="9965" y="18095"/>
                </a:lnTo>
                <a:close/>
              </a:path>
            </a:pathLst>
          </a:custGeom>
          <a:solidFill>
            <a:srgbClr val="00A1FF"/>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9" name="Shape"/>
          <p:cNvSpPr/>
          <p:nvPr/>
        </p:nvSpPr>
        <p:spPr>
          <a:xfrm flipH="1">
            <a:off x="16095276" y="2842887"/>
            <a:ext cx="1412127" cy="824109"/>
          </a:xfrm>
          <a:custGeom>
            <a:avLst/>
            <a:gdLst/>
            <a:ahLst/>
            <a:cxnLst>
              <a:cxn ang="0">
                <a:pos x="wd2" y="hd2"/>
              </a:cxn>
              <a:cxn ang="5400000">
                <a:pos x="wd2" y="hd2"/>
              </a:cxn>
              <a:cxn ang="10800000">
                <a:pos x="wd2" y="hd2"/>
              </a:cxn>
              <a:cxn ang="16200000">
                <a:pos x="wd2" y="hd2"/>
              </a:cxn>
            </a:cxnLst>
            <a:rect l="0" t="0" r="r" b="b"/>
            <a:pathLst>
              <a:path w="21262" h="21600" fill="norm" stroke="1" extrusionOk="0">
                <a:moveTo>
                  <a:pt x="5093" y="0"/>
                </a:moveTo>
                <a:cubicBezTo>
                  <a:pt x="4666" y="0"/>
                  <a:pt x="4320" y="604"/>
                  <a:pt x="4320" y="1348"/>
                </a:cubicBezTo>
                <a:cubicBezTo>
                  <a:pt x="4320" y="2091"/>
                  <a:pt x="4666" y="2695"/>
                  <a:pt x="5093" y="2695"/>
                </a:cubicBezTo>
                <a:lnTo>
                  <a:pt x="10397" y="2695"/>
                </a:lnTo>
                <a:cubicBezTo>
                  <a:pt x="10631" y="2695"/>
                  <a:pt x="10839" y="2508"/>
                  <a:pt x="10981" y="2221"/>
                </a:cubicBezTo>
                <a:lnTo>
                  <a:pt x="12234" y="2221"/>
                </a:lnTo>
                <a:lnTo>
                  <a:pt x="12234" y="4988"/>
                </a:lnTo>
                <a:lnTo>
                  <a:pt x="5055" y="4988"/>
                </a:lnTo>
                <a:cubicBezTo>
                  <a:pt x="4702" y="3216"/>
                  <a:pt x="3736" y="1937"/>
                  <a:pt x="2600" y="1937"/>
                </a:cubicBezTo>
                <a:cubicBezTo>
                  <a:pt x="1166" y="1937"/>
                  <a:pt x="0" y="3968"/>
                  <a:pt x="0" y="6463"/>
                </a:cubicBezTo>
                <a:cubicBezTo>
                  <a:pt x="0" y="8958"/>
                  <a:pt x="1166" y="10988"/>
                  <a:pt x="2600" y="10988"/>
                </a:cubicBezTo>
                <a:cubicBezTo>
                  <a:pt x="3487" y="10988"/>
                  <a:pt x="4272" y="10208"/>
                  <a:pt x="4741" y="9022"/>
                </a:cubicBezTo>
                <a:lnTo>
                  <a:pt x="8988" y="11960"/>
                </a:lnTo>
                <a:cubicBezTo>
                  <a:pt x="8988" y="11960"/>
                  <a:pt x="9368" y="12499"/>
                  <a:pt x="9453" y="13775"/>
                </a:cubicBezTo>
                <a:cubicBezTo>
                  <a:pt x="9453" y="13775"/>
                  <a:pt x="9792" y="16230"/>
                  <a:pt x="11033" y="16230"/>
                </a:cubicBezTo>
                <a:lnTo>
                  <a:pt x="19531" y="16230"/>
                </a:lnTo>
                <a:cubicBezTo>
                  <a:pt x="19531" y="16230"/>
                  <a:pt x="21600" y="16232"/>
                  <a:pt x="20791" y="12648"/>
                </a:cubicBezTo>
                <a:lnTo>
                  <a:pt x="19692" y="7981"/>
                </a:lnTo>
                <a:cubicBezTo>
                  <a:pt x="19692" y="7981"/>
                  <a:pt x="19015" y="4988"/>
                  <a:pt x="16674" y="4988"/>
                </a:cubicBezTo>
                <a:lnTo>
                  <a:pt x="13395" y="4988"/>
                </a:lnTo>
                <a:lnTo>
                  <a:pt x="13395" y="2221"/>
                </a:lnTo>
                <a:lnTo>
                  <a:pt x="14602" y="2221"/>
                </a:lnTo>
                <a:cubicBezTo>
                  <a:pt x="14744" y="2508"/>
                  <a:pt x="14952" y="2695"/>
                  <a:pt x="15187" y="2695"/>
                </a:cubicBezTo>
                <a:lnTo>
                  <a:pt x="20487" y="2695"/>
                </a:lnTo>
                <a:cubicBezTo>
                  <a:pt x="20915" y="2695"/>
                  <a:pt x="21262" y="2091"/>
                  <a:pt x="21262" y="1348"/>
                </a:cubicBezTo>
                <a:cubicBezTo>
                  <a:pt x="21262" y="604"/>
                  <a:pt x="20915" y="0"/>
                  <a:pt x="20487" y="0"/>
                </a:cubicBezTo>
                <a:lnTo>
                  <a:pt x="15187" y="0"/>
                </a:lnTo>
                <a:cubicBezTo>
                  <a:pt x="14935" y="0"/>
                  <a:pt x="14714" y="214"/>
                  <a:pt x="14572" y="538"/>
                </a:cubicBezTo>
                <a:lnTo>
                  <a:pt x="11011" y="538"/>
                </a:lnTo>
                <a:cubicBezTo>
                  <a:pt x="10870" y="214"/>
                  <a:pt x="10648" y="0"/>
                  <a:pt x="10397" y="0"/>
                </a:cubicBezTo>
                <a:lnTo>
                  <a:pt x="5093" y="0"/>
                </a:lnTo>
                <a:close/>
                <a:moveTo>
                  <a:pt x="2600" y="3956"/>
                </a:moveTo>
                <a:cubicBezTo>
                  <a:pt x="3076" y="3956"/>
                  <a:pt x="3498" y="4364"/>
                  <a:pt x="3761" y="4988"/>
                </a:cubicBezTo>
                <a:lnTo>
                  <a:pt x="2571" y="4988"/>
                </a:lnTo>
                <a:cubicBezTo>
                  <a:pt x="2571" y="4988"/>
                  <a:pt x="2091" y="5232"/>
                  <a:pt x="2091" y="6067"/>
                </a:cubicBezTo>
                <a:cubicBezTo>
                  <a:pt x="2091" y="6067"/>
                  <a:pt x="2064" y="7247"/>
                  <a:pt x="2600" y="7541"/>
                </a:cubicBezTo>
                <a:lnTo>
                  <a:pt x="3613" y="8241"/>
                </a:lnTo>
                <a:cubicBezTo>
                  <a:pt x="3352" y="8690"/>
                  <a:pt x="2994" y="8967"/>
                  <a:pt x="2600" y="8967"/>
                </a:cubicBezTo>
                <a:cubicBezTo>
                  <a:pt x="1806" y="8967"/>
                  <a:pt x="1159" y="7845"/>
                  <a:pt x="1159" y="6463"/>
                </a:cubicBezTo>
                <a:cubicBezTo>
                  <a:pt x="1159" y="5081"/>
                  <a:pt x="1806" y="3956"/>
                  <a:pt x="2600" y="3956"/>
                </a:cubicBezTo>
                <a:close/>
                <a:moveTo>
                  <a:pt x="13328" y="6732"/>
                </a:moveTo>
                <a:lnTo>
                  <a:pt x="14843" y="6732"/>
                </a:lnTo>
                <a:lnTo>
                  <a:pt x="14843" y="10979"/>
                </a:lnTo>
                <a:lnTo>
                  <a:pt x="13328" y="10979"/>
                </a:lnTo>
                <a:lnTo>
                  <a:pt x="13328" y="6732"/>
                </a:lnTo>
                <a:close/>
                <a:moveTo>
                  <a:pt x="15352" y="6732"/>
                </a:moveTo>
                <a:lnTo>
                  <a:pt x="16866" y="6732"/>
                </a:lnTo>
                <a:lnTo>
                  <a:pt x="16866" y="10979"/>
                </a:lnTo>
                <a:lnTo>
                  <a:pt x="15352" y="10979"/>
                </a:lnTo>
                <a:lnTo>
                  <a:pt x="15352" y="6732"/>
                </a:lnTo>
                <a:close/>
                <a:moveTo>
                  <a:pt x="17401" y="6732"/>
                </a:moveTo>
                <a:cubicBezTo>
                  <a:pt x="18774" y="6732"/>
                  <a:pt x="19194" y="10979"/>
                  <a:pt x="19194" y="10979"/>
                </a:cubicBezTo>
                <a:lnTo>
                  <a:pt x="17401" y="10979"/>
                </a:lnTo>
                <a:lnTo>
                  <a:pt x="17401" y="6732"/>
                </a:lnTo>
                <a:close/>
                <a:moveTo>
                  <a:pt x="9965" y="18095"/>
                </a:moveTo>
                <a:cubicBezTo>
                  <a:pt x="9833" y="18095"/>
                  <a:pt x="9725" y="18283"/>
                  <a:pt x="9725" y="18512"/>
                </a:cubicBezTo>
                <a:lnTo>
                  <a:pt x="9725" y="21184"/>
                </a:lnTo>
                <a:cubicBezTo>
                  <a:pt x="9725" y="21413"/>
                  <a:pt x="9833" y="21600"/>
                  <a:pt x="9965" y="21600"/>
                </a:cubicBezTo>
                <a:lnTo>
                  <a:pt x="20740" y="21600"/>
                </a:lnTo>
                <a:cubicBezTo>
                  <a:pt x="20872" y="21600"/>
                  <a:pt x="20979" y="21413"/>
                  <a:pt x="20979" y="21184"/>
                </a:cubicBezTo>
                <a:lnTo>
                  <a:pt x="20979" y="18512"/>
                </a:lnTo>
                <a:cubicBezTo>
                  <a:pt x="20979" y="18283"/>
                  <a:pt x="20872" y="18095"/>
                  <a:pt x="20740" y="18095"/>
                </a:cubicBezTo>
                <a:lnTo>
                  <a:pt x="9965" y="18095"/>
                </a:lnTo>
                <a:close/>
              </a:path>
            </a:pathLst>
          </a:custGeom>
          <a:solidFill>
            <a:srgbClr val="00A1FF"/>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0" name="Shape"/>
          <p:cNvSpPr/>
          <p:nvPr/>
        </p:nvSpPr>
        <p:spPr>
          <a:xfrm flipH="1" rot="10800000">
            <a:off x="16594145" y="5535514"/>
            <a:ext cx="792176" cy="1614463"/>
          </a:xfrm>
          <a:custGeom>
            <a:avLst/>
            <a:gdLst/>
            <a:ahLst/>
            <a:cxnLst>
              <a:cxn ang="0">
                <a:pos x="wd2" y="hd2"/>
              </a:cxn>
              <a:cxn ang="5400000">
                <a:pos x="wd2" y="hd2"/>
              </a:cxn>
              <a:cxn ang="10800000">
                <a:pos x="wd2" y="hd2"/>
              </a:cxn>
              <a:cxn ang="16200000">
                <a:pos x="wd2" y="hd2"/>
              </a:cxn>
            </a:cxnLst>
            <a:rect l="0" t="0" r="r" b="b"/>
            <a:pathLst>
              <a:path w="15155" h="21600" fill="norm" stroke="1" extrusionOk="0">
                <a:moveTo>
                  <a:pt x="7578" y="0"/>
                </a:moveTo>
                <a:cubicBezTo>
                  <a:pt x="7202" y="0"/>
                  <a:pt x="6826" y="102"/>
                  <a:pt x="6548" y="307"/>
                </a:cubicBezTo>
                <a:cubicBezTo>
                  <a:pt x="2903" y="2990"/>
                  <a:pt x="2797" y="8264"/>
                  <a:pt x="3498" y="12617"/>
                </a:cubicBezTo>
                <a:cubicBezTo>
                  <a:pt x="-3222" y="14949"/>
                  <a:pt x="1809" y="21600"/>
                  <a:pt x="1809" y="21600"/>
                </a:cubicBezTo>
                <a:lnTo>
                  <a:pt x="3126" y="21600"/>
                </a:lnTo>
                <a:cubicBezTo>
                  <a:pt x="2414" y="19196"/>
                  <a:pt x="3258" y="17810"/>
                  <a:pt x="4550" y="17167"/>
                </a:cubicBezTo>
                <a:cubicBezTo>
                  <a:pt x="5007" y="18704"/>
                  <a:pt x="5394" y="19655"/>
                  <a:pt x="5361" y="19572"/>
                </a:cubicBezTo>
                <a:lnTo>
                  <a:pt x="9796" y="19572"/>
                </a:lnTo>
                <a:cubicBezTo>
                  <a:pt x="9763" y="19655"/>
                  <a:pt x="10149" y="18704"/>
                  <a:pt x="10606" y="17167"/>
                </a:cubicBezTo>
                <a:cubicBezTo>
                  <a:pt x="11898" y="17810"/>
                  <a:pt x="12743" y="19196"/>
                  <a:pt x="12030" y="21600"/>
                </a:cubicBezTo>
                <a:lnTo>
                  <a:pt x="13345" y="21600"/>
                </a:lnTo>
                <a:cubicBezTo>
                  <a:pt x="13345" y="21600"/>
                  <a:pt x="18378" y="14949"/>
                  <a:pt x="11658" y="12617"/>
                </a:cubicBezTo>
                <a:cubicBezTo>
                  <a:pt x="12359" y="8264"/>
                  <a:pt x="12253" y="2990"/>
                  <a:pt x="8608" y="307"/>
                </a:cubicBezTo>
                <a:cubicBezTo>
                  <a:pt x="8330" y="102"/>
                  <a:pt x="7954" y="0"/>
                  <a:pt x="7578" y="0"/>
                </a:cubicBezTo>
                <a:close/>
                <a:moveTo>
                  <a:pt x="7578" y="5435"/>
                </a:moveTo>
                <a:cubicBezTo>
                  <a:pt x="8529" y="5435"/>
                  <a:pt x="9301" y="5975"/>
                  <a:pt x="9301" y="6640"/>
                </a:cubicBezTo>
                <a:cubicBezTo>
                  <a:pt x="9301" y="7305"/>
                  <a:pt x="8529" y="7844"/>
                  <a:pt x="7578" y="7844"/>
                </a:cubicBezTo>
                <a:cubicBezTo>
                  <a:pt x="6627" y="7844"/>
                  <a:pt x="5855" y="7305"/>
                  <a:pt x="5855" y="6640"/>
                </a:cubicBezTo>
                <a:cubicBezTo>
                  <a:pt x="5855" y="5976"/>
                  <a:pt x="6627" y="5435"/>
                  <a:pt x="7578" y="5435"/>
                </a:cubicBezTo>
                <a:close/>
                <a:moveTo>
                  <a:pt x="7578" y="8932"/>
                </a:moveTo>
                <a:cubicBezTo>
                  <a:pt x="8101" y="8932"/>
                  <a:pt x="8524" y="9228"/>
                  <a:pt x="8524" y="9593"/>
                </a:cubicBezTo>
                <a:cubicBezTo>
                  <a:pt x="8524" y="9959"/>
                  <a:pt x="8101" y="10257"/>
                  <a:pt x="7578" y="10257"/>
                </a:cubicBezTo>
                <a:cubicBezTo>
                  <a:pt x="7055" y="10257"/>
                  <a:pt x="6632" y="9959"/>
                  <a:pt x="6632" y="9593"/>
                </a:cubicBezTo>
                <a:cubicBezTo>
                  <a:pt x="6632" y="9228"/>
                  <a:pt x="7055" y="8932"/>
                  <a:pt x="7578" y="8932"/>
                </a:cubicBezTo>
                <a:close/>
                <a:moveTo>
                  <a:pt x="7578" y="11345"/>
                </a:moveTo>
                <a:cubicBezTo>
                  <a:pt x="8101" y="11345"/>
                  <a:pt x="8524" y="11641"/>
                  <a:pt x="8524" y="12007"/>
                </a:cubicBezTo>
                <a:cubicBezTo>
                  <a:pt x="8524" y="12372"/>
                  <a:pt x="8101" y="12668"/>
                  <a:pt x="7578" y="12668"/>
                </a:cubicBezTo>
                <a:cubicBezTo>
                  <a:pt x="7055" y="12668"/>
                  <a:pt x="6632" y="12372"/>
                  <a:pt x="6632" y="12007"/>
                </a:cubicBezTo>
                <a:cubicBezTo>
                  <a:pt x="6632" y="11641"/>
                  <a:pt x="7055" y="11345"/>
                  <a:pt x="7578" y="11345"/>
                </a:cubicBezTo>
                <a:close/>
              </a:path>
            </a:pathLst>
          </a:custGeom>
          <a:solidFill>
            <a:srgbClr val="5AC4F6"/>
          </a:solidFill>
          <a:ln w="12700">
            <a:miter lim="400000"/>
          </a:ln>
        </p:spPr>
        <p:txBody>
          <a:bodyPr lIns="127000" tIns="127000" rIns="127000" bIns="127000" anchor="ctr">
            <a:normAutofit fontScale="100000" lnSpcReduction="0"/>
          </a:bodyPr>
          <a:lstStyle/>
          <a:p>
            <a:pPr algn="ct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Helvetica"/>
                <a:ea typeface="Helvetica"/>
                <a:cs typeface="Helvetica"/>
                <a:sym typeface="Helvetica"/>
              </a:defRPr>
            </a:pPr>
          </a:p>
        </p:txBody>
      </p:sp>
      <p:sp>
        <p:nvSpPr>
          <p:cNvPr id="241" name="Shape"/>
          <p:cNvSpPr/>
          <p:nvPr/>
        </p:nvSpPr>
        <p:spPr>
          <a:xfrm>
            <a:off x="15007755" y="8496558"/>
            <a:ext cx="792176" cy="1614463"/>
          </a:xfrm>
          <a:custGeom>
            <a:avLst/>
            <a:gdLst/>
            <a:ahLst/>
            <a:cxnLst>
              <a:cxn ang="0">
                <a:pos x="wd2" y="hd2"/>
              </a:cxn>
              <a:cxn ang="5400000">
                <a:pos x="wd2" y="hd2"/>
              </a:cxn>
              <a:cxn ang="10800000">
                <a:pos x="wd2" y="hd2"/>
              </a:cxn>
              <a:cxn ang="16200000">
                <a:pos x="wd2" y="hd2"/>
              </a:cxn>
            </a:cxnLst>
            <a:rect l="0" t="0" r="r" b="b"/>
            <a:pathLst>
              <a:path w="15155" h="21600" fill="norm" stroke="1" extrusionOk="0">
                <a:moveTo>
                  <a:pt x="7578" y="0"/>
                </a:moveTo>
                <a:cubicBezTo>
                  <a:pt x="7202" y="0"/>
                  <a:pt x="6826" y="102"/>
                  <a:pt x="6548" y="307"/>
                </a:cubicBezTo>
                <a:cubicBezTo>
                  <a:pt x="2903" y="2990"/>
                  <a:pt x="2797" y="8264"/>
                  <a:pt x="3498" y="12617"/>
                </a:cubicBezTo>
                <a:cubicBezTo>
                  <a:pt x="-3222" y="14949"/>
                  <a:pt x="1809" y="21600"/>
                  <a:pt x="1809" y="21600"/>
                </a:cubicBezTo>
                <a:lnTo>
                  <a:pt x="3126" y="21600"/>
                </a:lnTo>
                <a:cubicBezTo>
                  <a:pt x="2414" y="19196"/>
                  <a:pt x="3258" y="17810"/>
                  <a:pt x="4550" y="17167"/>
                </a:cubicBezTo>
                <a:cubicBezTo>
                  <a:pt x="5007" y="18704"/>
                  <a:pt x="5394" y="19655"/>
                  <a:pt x="5361" y="19572"/>
                </a:cubicBezTo>
                <a:lnTo>
                  <a:pt x="9796" y="19572"/>
                </a:lnTo>
                <a:cubicBezTo>
                  <a:pt x="9763" y="19655"/>
                  <a:pt x="10149" y="18704"/>
                  <a:pt x="10606" y="17167"/>
                </a:cubicBezTo>
                <a:cubicBezTo>
                  <a:pt x="11898" y="17810"/>
                  <a:pt x="12743" y="19196"/>
                  <a:pt x="12030" y="21600"/>
                </a:cubicBezTo>
                <a:lnTo>
                  <a:pt x="13345" y="21600"/>
                </a:lnTo>
                <a:cubicBezTo>
                  <a:pt x="13345" y="21600"/>
                  <a:pt x="18378" y="14949"/>
                  <a:pt x="11658" y="12617"/>
                </a:cubicBezTo>
                <a:cubicBezTo>
                  <a:pt x="12359" y="8264"/>
                  <a:pt x="12253" y="2990"/>
                  <a:pt x="8608" y="307"/>
                </a:cubicBezTo>
                <a:cubicBezTo>
                  <a:pt x="8330" y="102"/>
                  <a:pt x="7954" y="0"/>
                  <a:pt x="7578" y="0"/>
                </a:cubicBezTo>
                <a:close/>
                <a:moveTo>
                  <a:pt x="7578" y="5435"/>
                </a:moveTo>
                <a:cubicBezTo>
                  <a:pt x="8529" y="5435"/>
                  <a:pt x="9301" y="5975"/>
                  <a:pt x="9301" y="6640"/>
                </a:cubicBezTo>
                <a:cubicBezTo>
                  <a:pt x="9301" y="7305"/>
                  <a:pt x="8529" y="7844"/>
                  <a:pt x="7578" y="7844"/>
                </a:cubicBezTo>
                <a:cubicBezTo>
                  <a:pt x="6627" y="7844"/>
                  <a:pt x="5855" y="7305"/>
                  <a:pt x="5855" y="6640"/>
                </a:cubicBezTo>
                <a:cubicBezTo>
                  <a:pt x="5855" y="5976"/>
                  <a:pt x="6627" y="5435"/>
                  <a:pt x="7578" y="5435"/>
                </a:cubicBezTo>
                <a:close/>
                <a:moveTo>
                  <a:pt x="7578" y="8932"/>
                </a:moveTo>
                <a:cubicBezTo>
                  <a:pt x="8101" y="8932"/>
                  <a:pt x="8524" y="9228"/>
                  <a:pt x="8524" y="9593"/>
                </a:cubicBezTo>
                <a:cubicBezTo>
                  <a:pt x="8524" y="9959"/>
                  <a:pt x="8101" y="10257"/>
                  <a:pt x="7578" y="10257"/>
                </a:cubicBezTo>
                <a:cubicBezTo>
                  <a:pt x="7055" y="10257"/>
                  <a:pt x="6632" y="9959"/>
                  <a:pt x="6632" y="9593"/>
                </a:cubicBezTo>
                <a:cubicBezTo>
                  <a:pt x="6632" y="9228"/>
                  <a:pt x="7055" y="8932"/>
                  <a:pt x="7578" y="8932"/>
                </a:cubicBezTo>
                <a:close/>
                <a:moveTo>
                  <a:pt x="7578" y="11345"/>
                </a:moveTo>
                <a:cubicBezTo>
                  <a:pt x="8101" y="11345"/>
                  <a:pt x="8524" y="11641"/>
                  <a:pt x="8524" y="12007"/>
                </a:cubicBezTo>
                <a:cubicBezTo>
                  <a:pt x="8524" y="12372"/>
                  <a:pt x="8101" y="12668"/>
                  <a:pt x="7578" y="12668"/>
                </a:cubicBezTo>
                <a:cubicBezTo>
                  <a:pt x="7055" y="12668"/>
                  <a:pt x="6632" y="12372"/>
                  <a:pt x="6632" y="12007"/>
                </a:cubicBezTo>
                <a:cubicBezTo>
                  <a:pt x="6632" y="11641"/>
                  <a:pt x="7055" y="11345"/>
                  <a:pt x="7578" y="11345"/>
                </a:cubicBezTo>
                <a:close/>
              </a:path>
            </a:pathLst>
          </a:custGeom>
          <a:solidFill>
            <a:srgbClr val="5AC4F6"/>
          </a:solidFill>
          <a:ln w="12700">
            <a:miter lim="400000"/>
          </a:ln>
        </p:spPr>
        <p:txBody>
          <a:bodyPr lIns="127000" tIns="127000" rIns="127000" bIns="127000" anchor="ctr">
            <a:normAutofit fontScale="100000" lnSpcReduction="0"/>
          </a:bodyPr>
          <a:lstStyle/>
          <a:p>
            <a:pPr algn="ct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Helvetica"/>
                <a:ea typeface="Helvetica"/>
                <a:cs typeface="Helvetica"/>
                <a:sym typeface="Helvetica"/>
              </a:defRPr>
            </a:pPr>
          </a:p>
        </p:txBody>
      </p:sp>
      <p:sp>
        <p:nvSpPr>
          <p:cNvPr id="242" name="Shape"/>
          <p:cNvSpPr/>
          <p:nvPr/>
        </p:nvSpPr>
        <p:spPr>
          <a:xfrm>
            <a:off x="14885680" y="6854907"/>
            <a:ext cx="1137927" cy="1274139"/>
          </a:xfrm>
          <a:custGeom>
            <a:avLst/>
            <a:gdLst/>
            <a:ahLst/>
            <a:cxnLst>
              <a:cxn ang="0">
                <a:pos x="wd2" y="hd2"/>
              </a:cxn>
              <a:cxn ang="5400000">
                <a:pos x="wd2" y="hd2"/>
              </a:cxn>
              <a:cxn ang="10800000">
                <a:pos x="wd2" y="hd2"/>
              </a:cxn>
              <a:cxn ang="16200000">
                <a:pos x="wd2" y="hd2"/>
              </a:cxn>
            </a:cxnLst>
            <a:rect l="0" t="0" r="r" b="b"/>
            <a:pathLst>
              <a:path w="21600" h="21560" fill="norm" stroke="1" extrusionOk="0">
                <a:moveTo>
                  <a:pt x="9984" y="2"/>
                </a:moveTo>
                <a:cubicBezTo>
                  <a:pt x="9970" y="-1"/>
                  <a:pt x="9955" y="1"/>
                  <a:pt x="9941" y="8"/>
                </a:cubicBezTo>
                <a:lnTo>
                  <a:pt x="457" y="4889"/>
                </a:lnTo>
                <a:cubicBezTo>
                  <a:pt x="351" y="4943"/>
                  <a:pt x="342" y="5076"/>
                  <a:pt x="440" y="5142"/>
                </a:cubicBezTo>
                <a:lnTo>
                  <a:pt x="3478" y="7193"/>
                </a:lnTo>
                <a:cubicBezTo>
                  <a:pt x="3551" y="7243"/>
                  <a:pt x="3657" y="7230"/>
                  <a:pt x="3715" y="7165"/>
                </a:cubicBezTo>
                <a:lnTo>
                  <a:pt x="10019" y="88"/>
                </a:lnTo>
                <a:cubicBezTo>
                  <a:pt x="10050" y="53"/>
                  <a:pt x="10023" y="9"/>
                  <a:pt x="9984" y="2"/>
                </a:cubicBezTo>
                <a:close/>
                <a:moveTo>
                  <a:pt x="11618" y="2"/>
                </a:moveTo>
                <a:cubicBezTo>
                  <a:pt x="11578" y="9"/>
                  <a:pt x="11552" y="53"/>
                  <a:pt x="11583" y="88"/>
                </a:cubicBezTo>
                <a:lnTo>
                  <a:pt x="17887" y="7165"/>
                </a:lnTo>
                <a:cubicBezTo>
                  <a:pt x="17945" y="7230"/>
                  <a:pt x="18049" y="7243"/>
                  <a:pt x="18122" y="7193"/>
                </a:cubicBezTo>
                <a:lnTo>
                  <a:pt x="21160" y="5142"/>
                </a:lnTo>
                <a:cubicBezTo>
                  <a:pt x="21258" y="5077"/>
                  <a:pt x="21249" y="4943"/>
                  <a:pt x="21143" y="4889"/>
                </a:cubicBezTo>
                <a:lnTo>
                  <a:pt x="11661" y="8"/>
                </a:lnTo>
                <a:cubicBezTo>
                  <a:pt x="11647" y="1"/>
                  <a:pt x="11632" y="-1"/>
                  <a:pt x="11618" y="2"/>
                </a:cubicBezTo>
                <a:close/>
                <a:moveTo>
                  <a:pt x="10801" y="17"/>
                </a:moveTo>
                <a:cubicBezTo>
                  <a:pt x="10751" y="17"/>
                  <a:pt x="10701" y="36"/>
                  <a:pt x="10667" y="74"/>
                </a:cubicBezTo>
                <a:lnTo>
                  <a:pt x="4361" y="7153"/>
                </a:lnTo>
                <a:cubicBezTo>
                  <a:pt x="4272" y="7252"/>
                  <a:pt x="4353" y="7401"/>
                  <a:pt x="4496" y="7401"/>
                </a:cubicBezTo>
                <a:lnTo>
                  <a:pt x="17106" y="7401"/>
                </a:lnTo>
                <a:cubicBezTo>
                  <a:pt x="17250" y="7401"/>
                  <a:pt x="17328" y="7253"/>
                  <a:pt x="17239" y="7153"/>
                </a:cubicBezTo>
                <a:lnTo>
                  <a:pt x="10933" y="74"/>
                </a:lnTo>
                <a:cubicBezTo>
                  <a:pt x="10899" y="36"/>
                  <a:pt x="10851" y="17"/>
                  <a:pt x="10801" y="17"/>
                </a:cubicBezTo>
                <a:close/>
                <a:moveTo>
                  <a:pt x="185" y="5557"/>
                </a:moveTo>
                <a:cubicBezTo>
                  <a:pt x="92" y="5551"/>
                  <a:pt x="0" y="5615"/>
                  <a:pt x="0" y="5709"/>
                </a:cubicBezTo>
                <a:lnTo>
                  <a:pt x="0" y="14922"/>
                </a:lnTo>
                <a:cubicBezTo>
                  <a:pt x="0" y="14981"/>
                  <a:pt x="92" y="14996"/>
                  <a:pt x="117" y="14941"/>
                </a:cubicBezTo>
                <a:lnTo>
                  <a:pt x="3305" y="7772"/>
                </a:lnTo>
                <a:cubicBezTo>
                  <a:pt x="3333" y="7709"/>
                  <a:pt x="3311" y="7637"/>
                  <a:pt x="3250" y="7595"/>
                </a:cubicBezTo>
                <a:lnTo>
                  <a:pt x="274" y="5588"/>
                </a:lnTo>
                <a:cubicBezTo>
                  <a:pt x="246" y="5569"/>
                  <a:pt x="216" y="5559"/>
                  <a:pt x="185" y="5557"/>
                </a:cubicBezTo>
                <a:close/>
                <a:moveTo>
                  <a:pt x="21417" y="5557"/>
                </a:moveTo>
                <a:cubicBezTo>
                  <a:pt x="21386" y="5559"/>
                  <a:pt x="21354" y="5569"/>
                  <a:pt x="21326" y="5588"/>
                </a:cubicBezTo>
                <a:lnTo>
                  <a:pt x="18352" y="7595"/>
                </a:lnTo>
                <a:cubicBezTo>
                  <a:pt x="18291" y="7637"/>
                  <a:pt x="18267" y="7709"/>
                  <a:pt x="18295" y="7772"/>
                </a:cubicBezTo>
                <a:lnTo>
                  <a:pt x="21483" y="14941"/>
                </a:lnTo>
                <a:cubicBezTo>
                  <a:pt x="21508" y="14996"/>
                  <a:pt x="21600" y="14981"/>
                  <a:pt x="21600" y="14922"/>
                </a:cubicBezTo>
                <a:lnTo>
                  <a:pt x="21600" y="5709"/>
                </a:lnTo>
                <a:cubicBezTo>
                  <a:pt x="21600" y="5615"/>
                  <a:pt x="21510" y="5551"/>
                  <a:pt x="21417" y="5557"/>
                </a:cubicBezTo>
                <a:close/>
                <a:moveTo>
                  <a:pt x="4758" y="7845"/>
                </a:moveTo>
                <a:cubicBezTo>
                  <a:pt x="4626" y="7845"/>
                  <a:pt x="4544" y="7972"/>
                  <a:pt x="4610" y="8074"/>
                </a:cubicBezTo>
                <a:lnTo>
                  <a:pt x="10653" y="17253"/>
                </a:lnTo>
                <a:cubicBezTo>
                  <a:pt x="10719" y="17354"/>
                  <a:pt x="10881" y="17354"/>
                  <a:pt x="10947" y="17253"/>
                </a:cubicBezTo>
                <a:lnTo>
                  <a:pt x="16990" y="8074"/>
                </a:lnTo>
                <a:cubicBezTo>
                  <a:pt x="17056" y="7972"/>
                  <a:pt x="16976" y="7845"/>
                  <a:pt x="16844" y="7845"/>
                </a:cubicBezTo>
                <a:lnTo>
                  <a:pt x="4758" y="7845"/>
                </a:lnTo>
                <a:close/>
                <a:moveTo>
                  <a:pt x="3855" y="7973"/>
                </a:moveTo>
                <a:cubicBezTo>
                  <a:pt x="3794" y="7978"/>
                  <a:pt x="3736" y="8010"/>
                  <a:pt x="3709" y="8069"/>
                </a:cubicBezTo>
                <a:lnTo>
                  <a:pt x="241" y="15867"/>
                </a:lnTo>
                <a:cubicBezTo>
                  <a:pt x="201" y="15956"/>
                  <a:pt x="263" y="16057"/>
                  <a:pt x="370" y="16074"/>
                </a:cubicBezTo>
                <a:lnTo>
                  <a:pt x="9968" y="17585"/>
                </a:lnTo>
                <a:cubicBezTo>
                  <a:pt x="10112" y="17607"/>
                  <a:pt x="10219" y="17470"/>
                  <a:pt x="10145" y="17357"/>
                </a:cubicBezTo>
                <a:lnTo>
                  <a:pt x="4015" y="8048"/>
                </a:lnTo>
                <a:cubicBezTo>
                  <a:pt x="3979" y="7993"/>
                  <a:pt x="3916" y="7969"/>
                  <a:pt x="3855" y="7973"/>
                </a:cubicBezTo>
                <a:close/>
                <a:moveTo>
                  <a:pt x="17745" y="7973"/>
                </a:moveTo>
                <a:cubicBezTo>
                  <a:pt x="17684" y="7969"/>
                  <a:pt x="17621" y="7993"/>
                  <a:pt x="17585" y="8048"/>
                </a:cubicBezTo>
                <a:lnTo>
                  <a:pt x="11457" y="17357"/>
                </a:lnTo>
                <a:cubicBezTo>
                  <a:pt x="11383" y="17470"/>
                  <a:pt x="11491" y="17607"/>
                  <a:pt x="11634" y="17585"/>
                </a:cubicBezTo>
                <a:lnTo>
                  <a:pt x="21230" y="16074"/>
                </a:lnTo>
                <a:cubicBezTo>
                  <a:pt x="21337" y="16057"/>
                  <a:pt x="21399" y="15956"/>
                  <a:pt x="21359" y="15867"/>
                </a:cubicBezTo>
                <a:lnTo>
                  <a:pt x="17891" y="8069"/>
                </a:lnTo>
                <a:cubicBezTo>
                  <a:pt x="17865" y="8010"/>
                  <a:pt x="17806" y="7978"/>
                  <a:pt x="17745" y="7973"/>
                </a:cubicBezTo>
                <a:close/>
                <a:moveTo>
                  <a:pt x="967" y="16618"/>
                </a:moveTo>
                <a:cubicBezTo>
                  <a:pt x="901" y="16608"/>
                  <a:pt x="866" y="16687"/>
                  <a:pt x="924" y="16717"/>
                </a:cubicBezTo>
                <a:lnTo>
                  <a:pt x="10295" y="21540"/>
                </a:lnTo>
                <a:cubicBezTo>
                  <a:pt x="10409" y="21599"/>
                  <a:pt x="10550" y="21526"/>
                  <a:pt x="10550" y="21408"/>
                </a:cubicBezTo>
                <a:lnTo>
                  <a:pt x="10550" y="18256"/>
                </a:lnTo>
                <a:cubicBezTo>
                  <a:pt x="10550" y="18182"/>
                  <a:pt x="10491" y="18118"/>
                  <a:pt x="10410" y="18105"/>
                </a:cubicBezTo>
                <a:lnTo>
                  <a:pt x="967" y="16618"/>
                </a:lnTo>
                <a:close/>
                <a:moveTo>
                  <a:pt x="20633" y="16618"/>
                </a:moveTo>
                <a:lnTo>
                  <a:pt x="11190" y="18105"/>
                </a:lnTo>
                <a:cubicBezTo>
                  <a:pt x="11109" y="18118"/>
                  <a:pt x="11050" y="18182"/>
                  <a:pt x="11050" y="18256"/>
                </a:cubicBezTo>
                <a:lnTo>
                  <a:pt x="11050" y="21408"/>
                </a:lnTo>
                <a:cubicBezTo>
                  <a:pt x="11050" y="21525"/>
                  <a:pt x="11192" y="21598"/>
                  <a:pt x="11305" y="21540"/>
                </a:cubicBezTo>
                <a:lnTo>
                  <a:pt x="20676" y="16717"/>
                </a:lnTo>
                <a:cubicBezTo>
                  <a:pt x="20734" y="16687"/>
                  <a:pt x="20700" y="16608"/>
                  <a:pt x="20633" y="16618"/>
                </a:cubicBezTo>
                <a:close/>
              </a:path>
            </a:pathLst>
          </a:custGeom>
          <a:solidFill>
            <a:srgbClr val="000000"/>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43" name="Shape"/>
          <p:cNvSpPr/>
          <p:nvPr/>
        </p:nvSpPr>
        <p:spPr>
          <a:xfrm>
            <a:off x="8288413" y="6854907"/>
            <a:ext cx="1137927" cy="1274139"/>
          </a:xfrm>
          <a:custGeom>
            <a:avLst/>
            <a:gdLst/>
            <a:ahLst/>
            <a:cxnLst>
              <a:cxn ang="0">
                <a:pos x="wd2" y="hd2"/>
              </a:cxn>
              <a:cxn ang="5400000">
                <a:pos x="wd2" y="hd2"/>
              </a:cxn>
              <a:cxn ang="10800000">
                <a:pos x="wd2" y="hd2"/>
              </a:cxn>
              <a:cxn ang="16200000">
                <a:pos x="wd2" y="hd2"/>
              </a:cxn>
            </a:cxnLst>
            <a:rect l="0" t="0" r="r" b="b"/>
            <a:pathLst>
              <a:path w="21600" h="21560" fill="norm" stroke="1" extrusionOk="0">
                <a:moveTo>
                  <a:pt x="9984" y="2"/>
                </a:moveTo>
                <a:cubicBezTo>
                  <a:pt x="9970" y="-1"/>
                  <a:pt x="9955" y="1"/>
                  <a:pt x="9941" y="8"/>
                </a:cubicBezTo>
                <a:lnTo>
                  <a:pt x="457" y="4889"/>
                </a:lnTo>
                <a:cubicBezTo>
                  <a:pt x="351" y="4943"/>
                  <a:pt x="342" y="5076"/>
                  <a:pt x="440" y="5142"/>
                </a:cubicBezTo>
                <a:lnTo>
                  <a:pt x="3478" y="7193"/>
                </a:lnTo>
                <a:cubicBezTo>
                  <a:pt x="3551" y="7243"/>
                  <a:pt x="3657" y="7230"/>
                  <a:pt x="3715" y="7165"/>
                </a:cubicBezTo>
                <a:lnTo>
                  <a:pt x="10019" y="88"/>
                </a:lnTo>
                <a:cubicBezTo>
                  <a:pt x="10050" y="53"/>
                  <a:pt x="10023" y="9"/>
                  <a:pt x="9984" y="2"/>
                </a:cubicBezTo>
                <a:close/>
                <a:moveTo>
                  <a:pt x="11618" y="2"/>
                </a:moveTo>
                <a:cubicBezTo>
                  <a:pt x="11578" y="9"/>
                  <a:pt x="11552" y="53"/>
                  <a:pt x="11583" y="88"/>
                </a:cubicBezTo>
                <a:lnTo>
                  <a:pt x="17887" y="7165"/>
                </a:lnTo>
                <a:cubicBezTo>
                  <a:pt x="17945" y="7230"/>
                  <a:pt x="18049" y="7243"/>
                  <a:pt x="18122" y="7193"/>
                </a:cubicBezTo>
                <a:lnTo>
                  <a:pt x="21160" y="5142"/>
                </a:lnTo>
                <a:cubicBezTo>
                  <a:pt x="21258" y="5077"/>
                  <a:pt x="21249" y="4943"/>
                  <a:pt x="21143" y="4889"/>
                </a:cubicBezTo>
                <a:lnTo>
                  <a:pt x="11661" y="8"/>
                </a:lnTo>
                <a:cubicBezTo>
                  <a:pt x="11647" y="1"/>
                  <a:pt x="11632" y="-1"/>
                  <a:pt x="11618" y="2"/>
                </a:cubicBezTo>
                <a:close/>
                <a:moveTo>
                  <a:pt x="10801" y="17"/>
                </a:moveTo>
                <a:cubicBezTo>
                  <a:pt x="10751" y="17"/>
                  <a:pt x="10701" y="36"/>
                  <a:pt x="10667" y="74"/>
                </a:cubicBezTo>
                <a:lnTo>
                  <a:pt x="4361" y="7153"/>
                </a:lnTo>
                <a:cubicBezTo>
                  <a:pt x="4272" y="7252"/>
                  <a:pt x="4353" y="7401"/>
                  <a:pt x="4496" y="7401"/>
                </a:cubicBezTo>
                <a:lnTo>
                  <a:pt x="17106" y="7401"/>
                </a:lnTo>
                <a:cubicBezTo>
                  <a:pt x="17250" y="7401"/>
                  <a:pt x="17328" y="7253"/>
                  <a:pt x="17239" y="7153"/>
                </a:cubicBezTo>
                <a:lnTo>
                  <a:pt x="10933" y="74"/>
                </a:lnTo>
                <a:cubicBezTo>
                  <a:pt x="10899" y="36"/>
                  <a:pt x="10851" y="17"/>
                  <a:pt x="10801" y="17"/>
                </a:cubicBezTo>
                <a:close/>
                <a:moveTo>
                  <a:pt x="185" y="5557"/>
                </a:moveTo>
                <a:cubicBezTo>
                  <a:pt x="92" y="5551"/>
                  <a:pt x="0" y="5615"/>
                  <a:pt x="0" y="5709"/>
                </a:cubicBezTo>
                <a:lnTo>
                  <a:pt x="0" y="14922"/>
                </a:lnTo>
                <a:cubicBezTo>
                  <a:pt x="0" y="14981"/>
                  <a:pt x="92" y="14996"/>
                  <a:pt x="117" y="14941"/>
                </a:cubicBezTo>
                <a:lnTo>
                  <a:pt x="3305" y="7772"/>
                </a:lnTo>
                <a:cubicBezTo>
                  <a:pt x="3333" y="7709"/>
                  <a:pt x="3311" y="7637"/>
                  <a:pt x="3250" y="7595"/>
                </a:cubicBezTo>
                <a:lnTo>
                  <a:pt x="274" y="5588"/>
                </a:lnTo>
                <a:cubicBezTo>
                  <a:pt x="246" y="5569"/>
                  <a:pt x="216" y="5559"/>
                  <a:pt x="185" y="5557"/>
                </a:cubicBezTo>
                <a:close/>
                <a:moveTo>
                  <a:pt x="21417" y="5557"/>
                </a:moveTo>
                <a:cubicBezTo>
                  <a:pt x="21386" y="5559"/>
                  <a:pt x="21354" y="5569"/>
                  <a:pt x="21326" y="5588"/>
                </a:cubicBezTo>
                <a:lnTo>
                  <a:pt x="18352" y="7595"/>
                </a:lnTo>
                <a:cubicBezTo>
                  <a:pt x="18291" y="7637"/>
                  <a:pt x="18267" y="7709"/>
                  <a:pt x="18295" y="7772"/>
                </a:cubicBezTo>
                <a:lnTo>
                  <a:pt x="21483" y="14941"/>
                </a:lnTo>
                <a:cubicBezTo>
                  <a:pt x="21508" y="14996"/>
                  <a:pt x="21600" y="14981"/>
                  <a:pt x="21600" y="14922"/>
                </a:cubicBezTo>
                <a:lnTo>
                  <a:pt x="21600" y="5709"/>
                </a:lnTo>
                <a:cubicBezTo>
                  <a:pt x="21600" y="5615"/>
                  <a:pt x="21510" y="5551"/>
                  <a:pt x="21417" y="5557"/>
                </a:cubicBezTo>
                <a:close/>
                <a:moveTo>
                  <a:pt x="4758" y="7845"/>
                </a:moveTo>
                <a:cubicBezTo>
                  <a:pt x="4626" y="7845"/>
                  <a:pt x="4544" y="7972"/>
                  <a:pt x="4610" y="8074"/>
                </a:cubicBezTo>
                <a:lnTo>
                  <a:pt x="10653" y="17253"/>
                </a:lnTo>
                <a:cubicBezTo>
                  <a:pt x="10719" y="17354"/>
                  <a:pt x="10881" y="17354"/>
                  <a:pt x="10947" y="17253"/>
                </a:cubicBezTo>
                <a:lnTo>
                  <a:pt x="16990" y="8074"/>
                </a:lnTo>
                <a:cubicBezTo>
                  <a:pt x="17056" y="7972"/>
                  <a:pt x="16976" y="7845"/>
                  <a:pt x="16844" y="7845"/>
                </a:cubicBezTo>
                <a:lnTo>
                  <a:pt x="4758" y="7845"/>
                </a:lnTo>
                <a:close/>
                <a:moveTo>
                  <a:pt x="3855" y="7973"/>
                </a:moveTo>
                <a:cubicBezTo>
                  <a:pt x="3794" y="7978"/>
                  <a:pt x="3736" y="8010"/>
                  <a:pt x="3709" y="8069"/>
                </a:cubicBezTo>
                <a:lnTo>
                  <a:pt x="241" y="15867"/>
                </a:lnTo>
                <a:cubicBezTo>
                  <a:pt x="201" y="15956"/>
                  <a:pt x="263" y="16057"/>
                  <a:pt x="370" y="16074"/>
                </a:cubicBezTo>
                <a:lnTo>
                  <a:pt x="9968" y="17585"/>
                </a:lnTo>
                <a:cubicBezTo>
                  <a:pt x="10112" y="17607"/>
                  <a:pt x="10219" y="17470"/>
                  <a:pt x="10145" y="17357"/>
                </a:cubicBezTo>
                <a:lnTo>
                  <a:pt x="4015" y="8048"/>
                </a:lnTo>
                <a:cubicBezTo>
                  <a:pt x="3979" y="7993"/>
                  <a:pt x="3916" y="7969"/>
                  <a:pt x="3855" y="7973"/>
                </a:cubicBezTo>
                <a:close/>
                <a:moveTo>
                  <a:pt x="17745" y="7973"/>
                </a:moveTo>
                <a:cubicBezTo>
                  <a:pt x="17684" y="7969"/>
                  <a:pt x="17621" y="7993"/>
                  <a:pt x="17585" y="8048"/>
                </a:cubicBezTo>
                <a:lnTo>
                  <a:pt x="11457" y="17357"/>
                </a:lnTo>
                <a:cubicBezTo>
                  <a:pt x="11383" y="17470"/>
                  <a:pt x="11491" y="17607"/>
                  <a:pt x="11634" y="17585"/>
                </a:cubicBezTo>
                <a:lnTo>
                  <a:pt x="21230" y="16074"/>
                </a:lnTo>
                <a:cubicBezTo>
                  <a:pt x="21337" y="16057"/>
                  <a:pt x="21399" y="15956"/>
                  <a:pt x="21359" y="15867"/>
                </a:cubicBezTo>
                <a:lnTo>
                  <a:pt x="17891" y="8069"/>
                </a:lnTo>
                <a:cubicBezTo>
                  <a:pt x="17865" y="8010"/>
                  <a:pt x="17806" y="7978"/>
                  <a:pt x="17745" y="7973"/>
                </a:cubicBezTo>
                <a:close/>
                <a:moveTo>
                  <a:pt x="967" y="16618"/>
                </a:moveTo>
                <a:cubicBezTo>
                  <a:pt x="901" y="16608"/>
                  <a:pt x="866" y="16687"/>
                  <a:pt x="924" y="16717"/>
                </a:cubicBezTo>
                <a:lnTo>
                  <a:pt x="10295" y="21540"/>
                </a:lnTo>
                <a:cubicBezTo>
                  <a:pt x="10409" y="21599"/>
                  <a:pt x="10550" y="21526"/>
                  <a:pt x="10550" y="21408"/>
                </a:cubicBezTo>
                <a:lnTo>
                  <a:pt x="10550" y="18256"/>
                </a:lnTo>
                <a:cubicBezTo>
                  <a:pt x="10550" y="18182"/>
                  <a:pt x="10491" y="18118"/>
                  <a:pt x="10410" y="18105"/>
                </a:cubicBezTo>
                <a:lnTo>
                  <a:pt x="967" y="16618"/>
                </a:lnTo>
                <a:close/>
                <a:moveTo>
                  <a:pt x="20633" y="16618"/>
                </a:moveTo>
                <a:lnTo>
                  <a:pt x="11190" y="18105"/>
                </a:lnTo>
                <a:cubicBezTo>
                  <a:pt x="11109" y="18118"/>
                  <a:pt x="11050" y="18182"/>
                  <a:pt x="11050" y="18256"/>
                </a:cubicBezTo>
                <a:lnTo>
                  <a:pt x="11050" y="21408"/>
                </a:lnTo>
                <a:cubicBezTo>
                  <a:pt x="11050" y="21525"/>
                  <a:pt x="11192" y="21598"/>
                  <a:pt x="11305" y="21540"/>
                </a:cubicBezTo>
                <a:lnTo>
                  <a:pt x="20676" y="16717"/>
                </a:lnTo>
                <a:cubicBezTo>
                  <a:pt x="20734" y="16687"/>
                  <a:pt x="20700" y="16608"/>
                  <a:pt x="20633" y="16618"/>
                </a:cubicBezTo>
                <a:close/>
              </a:path>
            </a:pathLst>
          </a:custGeom>
          <a:solidFill>
            <a:srgbClr val="000000"/>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44" name="Shape"/>
          <p:cNvSpPr/>
          <p:nvPr/>
        </p:nvSpPr>
        <p:spPr>
          <a:xfrm>
            <a:off x="10912739" y="4048974"/>
            <a:ext cx="1137927" cy="1274140"/>
          </a:xfrm>
          <a:custGeom>
            <a:avLst/>
            <a:gdLst/>
            <a:ahLst/>
            <a:cxnLst>
              <a:cxn ang="0">
                <a:pos x="wd2" y="hd2"/>
              </a:cxn>
              <a:cxn ang="5400000">
                <a:pos x="wd2" y="hd2"/>
              </a:cxn>
              <a:cxn ang="10800000">
                <a:pos x="wd2" y="hd2"/>
              </a:cxn>
              <a:cxn ang="16200000">
                <a:pos x="wd2" y="hd2"/>
              </a:cxn>
            </a:cxnLst>
            <a:rect l="0" t="0" r="r" b="b"/>
            <a:pathLst>
              <a:path w="21600" h="21560" fill="norm" stroke="1" extrusionOk="0">
                <a:moveTo>
                  <a:pt x="9984" y="2"/>
                </a:moveTo>
                <a:cubicBezTo>
                  <a:pt x="9970" y="-1"/>
                  <a:pt x="9955" y="1"/>
                  <a:pt x="9941" y="8"/>
                </a:cubicBezTo>
                <a:lnTo>
                  <a:pt x="457" y="4889"/>
                </a:lnTo>
                <a:cubicBezTo>
                  <a:pt x="351" y="4943"/>
                  <a:pt x="342" y="5076"/>
                  <a:pt x="440" y="5142"/>
                </a:cubicBezTo>
                <a:lnTo>
                  <a:pt x="3478" y="7193"/>
                </a:lnTo>
                <a:cubicBezTo>
                  <a:pt x="3551" y="7243"/>
                  <a:pt x="3657" y="7230"/>
                  <a:pt x="3715" y="7165"/>
                </a:cubicBezTo>
                <a:lnTo>
                  <a:pt x="10019" y="88"/>
                </a:lnTo>
                <a:cubicBezTo>
                  <a:pt x="10050" y="53"/>
                  <a:pt x="10023" y="9"/>
                  <a:pt x="9984" y="2"/>
                </a:cubicBezTo>
                <a:close/>
                <a:moveTo>
                  <a:pt x="11618" y="2"/>
                </a:moveTo>
                <a:cubicBezTo>
                  <a:pt x="11578" y="9"/>
                  <a:pt x="11552" y="53"/>
                  <a:pt x="11583" y="88"/>
                </a:cubicBezTo>
                <a:lnTo>
                  <a:pt x="17887" y="7165"/>
                </a:lnTo>
                <a:cubicBezTo>
                  <a:pt x="17945" y="7230"/>
                  <a:pt x="18049" y="7243"/>
                  <a:pt x="18122" y="7193"/>
                </a:cubicBezTo>
                <a:lnTo>
                  <a:pt x="21160" y="5142"/>
                </a:lnTo>
                <a:cubicBezTo>
                  <a:pt x="21258" y="5077"/>
                  <a:pt x="21249" y="4943"/>
                  <a:pt x="21143" y="4889"/>
                </a:cubicBezTo>
                <a:lnTo>
                  <a:pt x="11661" y="8"/>
                </a:lnTo>
                <a:cubicBezTo>
                  <a:pt x="11647" y="1"/>
                  <a:pt x="11632" y="-1"/>
                  <a:pt x="11618" y="2"/>
                </a:cubicBezTo>
                <a:close/>
                <a:moveTo>
                  <a:pt x="10801" y="17"/>
                </a:moveTo>
                <a:cubicBezTo>
                  <a:pt x="10751" y="17"/>
                  <a:pt x="10701" y="36"/>
                  <a:pt x="10667" y="74"/>
                </a:cubicBezTo>
                <a:lnTo>
                  <a:pt x="4361" y="7153"/>
                </a:lnTo>
                <a:cubicBezTo>
                  <a:pt x="4272" y="7252"/>
                  <a:pt x="4353" y="7401"/>
                  <a:pt x="4496" y="7401"/>
                </a:cubicBezTo>
                <a:lnTo>
                  <a:pt x="17106" y="7401"/>
                </a:lnTo>
                <a:cubicBezTo>
                  <a:pt x="17250" y="7401"/>
                  <a:pt x="17328" y="7253"/>
                  <a:pt x="17239" y="7153"/>
                </a:cubicBezTo>
                <a:lnTo>
                  <a:pt x="10933" y="74"/>
                </a:lnTo>
                <a:cubicBezTo>
                  <a:pt x="10899" y="36"/>
                  <a:pt x="10851" y="17"/>
                  <a:pt x="10801" y="17"/>
                </a:cubicBezTo>
                <a:close/>
                <a:moveTo>
                  <a:pt x="185" y="5557"/>
                </a:moveTo>
                <a:cubicBezTo>
                  <a:pt x="92" y="5551"/>
                  <a:pt x="0" y="5615"/>
                  <a:pt x="0" y="5709"/>
                </a:cubicBezTo>
                <a:lnTo>
                  <a:pt x="0" y="14922"/>
                </a:lnTo>
                <a:cubicBezTo>
                  <a:pt x="0" y="14981"/>
                  <a:pt x="92" y="14996"/>
                  <a:pt x="117" y="14941"/>
                </a:cubicBezTo>
                <a:lnTo>
                  <a:pt x="3305" y="7772"/>
                </a:lnTo>
                <a:cubicBezTo>
                  <a:pt x="3333" y="7709"/>
                  <a:pt x="3311" y="7637"/>
                  <a:pt x="3250" y="7595"/>
                </a:cubicBezTo>
                <a:lnTo>
                  <a:pt x="274" y="5588"/>
                </a:lnTo>
                <a:cubicBezTo>
                  <a:pt x="246" y="5569"/>
                  <a:pt x="216" y="5559"/>
                  <a:pt x="185" y="5557"/>
                </a:cubicBezTo>
                <a:close/>
                <a:moveTo>
                  <a:pt x="21417" y="5557"/>
                </a:moveTo>
                <a:cubicBezTo>
                  <a:pt x="21386" y="5559"/>
                  <a:pt x="21354" y="5569"/>
                  <a:pt x="21326" y="5588"/>
                </a:cubicBezTo>
                <a:lnTo>
                  <a:pt x="18352" y="7595"/>
                </a:lnTo>
                <a:cubicBezTo>
                  <a:pt x="18291" y="7637"/>
                  <a:pt x="18267" y="7709"/>
                  <a:pt x="18295" y="7772"/>
                </a:cubicBezTo>
                <a:lnTo>
                  <a:pt x="21483" y="14941"/>
                </a:lnTo>
                <a:cubicBezTo>
                  <a:pt x="21508" y="14996"/>
                  <a:pt x="21600" y="14981"/>
                  <a:pt x="21600" y="14922"/>
                </a:cubicBezTo>
                <a:lnTo>
                  <a:pt x="21600" y="5709"/>
                </a:lnTo>
                <a:cubicBezTo>
                  <a:pt x="21600" y="5615"/>
                  <a:pt x="21510" y="5551"/>
                  <a:pt x="21417" y="5557"/>
                </a:cubicBezTo>
                <a:close/>
                <a:moveTo>
                  <a:pt x="4758" y="7845"/>
                </a:moveTo>
                <a:cubicBezTo>
                  <a:pt x="4626" y="7845"/>
                  <a:pt x="4544" y="7972"/>
                  <a:pt x="4610" y="8074"/>
                </a:cubicBezTo>
                <a:lnTo>
                  <a:pt x="10653" y="17253"/>
                </a:lnTo>
                <a:cubicBezTo>
                  <a:pt x="10719" y="17354"/>
                  <a:pt x="10881" y="17354"/>
                  <a:pt x="10947" y="17253"/>
                </a:cubicBezTo>
                <a:lnTo>
                  <a:pt x="16990" y="8074"/>
                </a:lnTo>
                <a:cubicBezTo>
                  <a:pt x="17056" y="7972"/>
                  <a:pt x="16976" y="7845"/>
                  <a:pt x="16844" y="7845"/>
                </a:cubicBezTo>
                <a:lnTo>
                  <a:pt x="4758" y="7845"/>
                </a:lnTo>
                <a:close/>
                <a:moveTo>
                  <a:pt x="3855" y="7973"/>
                </a:moveTo>
                <a:cubicBezTo>
                  <a:pt x="3794" y="7978"/>
                  <a:pt x="3736" y="8010"/>
                  <a:pt x="3709" y="8069"/>
                </a:cubicBezTo>
                <a:lnTo>
                  <a:pt x="241" y="15867"/>
                </a:lnTo>
                <a:cubicBezTo>
                  <a:pt x="201" y="15956"/>
                  <a:pt x="263" y="16057"/>
                  <a:pt x="370" y="16074"/>
                </a:cubicBezTo>
                <a:lnTo>
                  <a:pt x="9968" y="17585"/>
                </a:lnTo>
                <a:cubicBezTo>
                  <a:pt x="10112" y="17607"/>
                  <a:pt x="10219" y="17470"/>
                  <a:pt x="10145" y="17357"/>
                </a:cubicBezTo>
                <a:lnTo>
                  <a:pt x="4015" y="8048"/>
                </a:lnTo>
                <a:cubicBezTo>
                  <a:pt x="3979" y="7993"/>
                  <a:pt x="3916" y="7969"/>
                  <a:pt x="3855" y="7973"/>
                </a:cubicBezTo>
                <a:close/>
                <a:moveTo>
                  <a:pt x="17745" y="7973"/>
                </a:moveTo>
                <a:cubicBezTo>
                  <a:pt x="17684" y="7969"/>
                  <a:pt x="17621" y="7993"/>
                  <a:pt x="17585" y="8048"/>
                </a:cubicBezTo>
                <a:lnTo>
                  <a:pt x="11457" y="17357"/>
                </a:lnTo>
                <a:cubicBezTo>
                  <a:pt x="11383" y="17470"/>
                  <a:pt x="11491" y="17607"/>
                  <a:pt x="11634" y="17585"/>
                </a:cubicBezTo>
                <a:lnTo>
                  <a:pt x="21230" y="16074"/>
                </a:lnTo>
                <a:cubicBezTo>
                  <a:pt x="21337" y="16057"/>
                  <a:pt x="21399" y="15956"/>
                  <a:pt x="21359" y="15867"/>
                </a:cubicBezTo>
                <a:lnTo>
                  <a:pt x="17891" y="8069"/>
                </a:lnTo>
                <a:cubicBezTo>
                  <a:pt x="17865" y="8010"/>
                  <a:pt x="17806" y="7978"/>
                  <a:pt x="17745" y="7973"/>
                </a:cubicBezTo>
                <a:close/>
                <a:moveTo>
                  <a:pt x="967" y="16618"/>
                </a:moveTo>
                <a:cubicBezTo>
                  <a:pt x="901" y="16608"/>
                  <a:pt x="866" y="16687"/>
                  <a:pt x="924" y="16717"/>
                </a:cubicBezTo>
                <a:lnTo>
                  <a:pt x="10295" y="21540"/>
                </a:lnTo>
                <a:cubicBezTo>
                  <a:pt x="10409" y="21599"/>
                  <a:pt x="10550" y="21526"/>
                  <a:pt x="10550" y="21408"/>
                </a:cubicBezTo>
                <a:lnTo>
                  <a:pt x="10550" y="18256"/>
                </a:lnTo>
                <a:cubicBezTo>
                  <a:pt x="10550" y="18182"/>
                  <a:pt x="10491" y="18118"/>
                  <a:pt x="10410" y="18105"/>
                </a:cubicBezTo>
                <a:lnTo>
                  <a:pt x="967" y="16618"/>
                </a:lnTo>
                <a:close/>
                <a:moveTo>
                  <a:pt x="20633" y="16618"/>
                </a:moveTo>
                <a:lnTo>
                  <a:pt x="11190" y="18105"/>
                </a:lnTo>
                <a:cubicBezTo>
                  <a:pt x="11109" y="18118"/>
                  <a:pt x="11050" y="18182"/>
                  <a:pt x="11050" y="18256"/>
                </a:cubicBezTo>
                <a:lnTo>
                  <a:pt x="11050" y="21408"/>
                </a:lnTo>
                <a:cubicBezTo>
                  <a:pt x="11050" y="21525"/>
                  <a:pt x="11192" y="21598"/>
                  <a:pt x="11305" y="21540"/>
                </a:cubicBezTo>
                <a:lnTo>
                  <a:pt x="20676" y="16717"/>
                </a:lnTo>
                <a:cubicBezTo>
                  <a:pt x="20734" y="16687"/>
                  <a:pt x="20700" y="16608"/>
                  <a:pt x="20633" y="16618"/>
                </a:cubicBezTo>
                <a:close/>
              </a:path>
            </a:pathLst>
          </a:custGeom>
          <a:solidFill>
            <a:srgbClr val="000000"/>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45" name="Line"/>
          <p:cNvSpPr/>
          <p:nvPr/>
        </p:nvSpPr>
        <p:spPr>
          <a:xfrm flipV="1">
            <a:off x="10372028" y="4974774"/>
            <a:ext cx="1" cy="1218268"/>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46" name="Line"/>
          <p:cNvSpPr/>
          <p:nvPr/>
        </p:nvSpPr>
        <p:spPr>
          <a:xfrm flipV="1">
            <a:off x="12502763" y="6939559"/>
            <a:ext cx="530839" cy="1096535"/>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47" name="Line"/>
          <p:cNvSpPr/>
          <p:nvPr/>
        </p:nvSpPr>
        <p:spPr>
          <a:xfrm flipH="1">
            <a:off x="11443366" y="5808786"/>
            <a:ext cx="569757" cy="1076828"/>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48" name="Line"/>
          <p:cNvSpPr/>
          <p:nvPr/>
        </p:nvSpPr>
        <p:spPr>
          <a:xfrm flipV="1">
            <a:off x="15773485" y="7315585"/>
            <a:ext cx="774441" cy="1605042"/>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49" name="6"/>
          <p:cNvSpPr txBox="1"/>
          <p:nvPr/>
        </p:nvSpPr>
        <p:spPr>
          <a:xfrm>
            <a:off x="11255083" y="4281828"/>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6</a:t>
            </a:r>
          </a:p>
        </p:txBody>
      </p:sp>
      <p:sp>
        <p:nvSpPr>
          <p:cNvPr id="250" name="12"/>
          <p:cNvSpPr txBox="1"/>
          <p:nvPr/>
        </p:nvSpPr>
        <p:spPr>
          <a:xfrm>
            <a:off x="15007755" y="7087761"/>
            <a:ext cx="792176"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12</a:t>
            </a:r>
          </a:p>
        </p:txBody>
      </p:sp>
      <p:sp>
        <p:nvSpPr>
          <p:cNvPr id="251" name="9"/>
          <p:cNvSpPr txBox="1"/>
          <p:nvPr/>
        </p:nvSpPr>
        <p:spPr>
          <a:xfrm>
            <a:off x="8630758" y="7087761"/>
            <a:ext cx="45323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9</a:t>
            </a:r>
          </a:p>
        </p:txBody>
      </p:sp>
      <p:sp>
        <p:nvSpPr>
          <p:cNvPr id="252" name="Line"/>
          <p:cNvSpPr/>
          <p:nvPr/>
        </p:nvSpPr>
        <p:spPr>
          <a:xfrm>
            <a:off x="7890707" y="11335205"/>
            <a:ext cx="1406146" cy="421512"/>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53" name="Line"/>
          <p:cNvSpPr/>
          <p:nvPr/>
        </p:nvSpPr>
        <p:spPr>
          <a:xfrm flipV="1">
            <a:off x="14509771" y="11268264"/>
            <a:ext cx="1405108" cy="534149"/>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54" name="Line"/>
          <p:cNvSpPr/>
          <p:nvPr/>
        </p:nvSpPr>
        <p:spPr>
          <a:xfrm flipH="1" flipV="1">
            <a:off x="14560280" y="2594343"/>
            <a:ext cx="1072699" cy="792438"/>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55" name="Line"/>
          <p:cNvSpPr/>
          <p:nvPr/>
        </p:nvSpPr>
        <p:spPr>
          <a:xfrm flipH="1">
            <a:off x="8607628" y="2538203"/>
            <a:ext cx="1259785" cy="461550"/>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56" name="Line"/>
          <p:cNvSpPr/>
          <p:nvPr/>
        </p:nvSpPr>
        <p:spPr>
          <a:xfrm flipV="1">
            <a:off x="14409852" y="5140693"/>
            <a:ext cx="1" cy="3001334"/>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57" name="Shape"/>
          <p:cNvSpPr/>
          <p:nvPr/>
        </p:nvSpPr>
        <p:spPr>
          <a:xfrm>
            <a:off x="11176215" y="9771564"/>
            <a:ext cx="2296786" cy="1038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56" y="0"/>
                </a:moveTo>
                <a:lnTo>
                  <a:pt x="4956" y="2631"/>
                </a:lnTo>
                <a:cubicBezTo>
                  <a:pt x="3968" y="6602"/>
                  <a:pt x="2077" y="9109"/>
                  <a:pt x="0" y="9109"/>
                </a:cubicBezTo>
                <a:lnTo>
                  <a:pt x="0" y="10065"/>
                </a:lnTo>
                <a:cubicBezTo>
                  <a:pt x="386" y="10065"/>
                  <a:pt x="766" y="9985"/>
                  <a:pt x="1136" y="9830"/>
                </a:cubicBezTo>
                <a:lnTo>
                  <a:pt x="1136" y="15386"/>
                </a:lnTo>
                <a:lnTo>
                  <a:pt x="0" y="15386"/>
                </a:lnTo>
                <a:lnTo>
                  <a:pt x="0" y="17297"/>
                </a:lnTo>
                <a:lnTo>
                  <a:pt x="4956" y="17297"/>
                </a:lnTo>
                <a:lnTo>
                  <a:pt x="4956" y="21600"/>
                </a:lnTo>
                <a:lnTo>
                  <a:pt x="5820" y="21600"/>
                </a:lnTo>
                <a:lnTo>
                  <a:pt x="5820" y="17297"/>
                </a:lnTo>
                <a:lnTo>
                  <a:pt x="15756" y="17297"/>
                </a:lnTo>
                <a:lnTo>
                  <a:pt x="15756" y="21600"/>
                </a:lnTo>
                <a:lnTo>
                  <a:pt x="16620" y="21600"/>
                </a:lnTo>
                <a:lnTo>
                  <a:pt x="16620" y="17297"/>
                </a:lnTo>
                <a:lnTo>
                  <a:pt x="21600" y="17297"/>
                </a:lnTo>
                <a:lnTo>
                  <a:pt x="21600" y="15386"/>
                </a:lnTo>
                <a:lnTo>
                  <a:pt x="20621" y="15386"/>
                </a:lnTo>
                <a:lnTo>
                  <a:pt x="20621" y="9878"/>
                </a:lnTo>
                <a:cubicBezTo>
                  <a:pt x="20942" y="9994"/>
                  <a:pt x="21268" y="10065"/>
                  <a:pt x="21600" y="10065"/>
                </a:cubicBezTo>
                <a:lnTo>
                  <a:pt x="21600" y="9109"/>
                </a:lnTo>
                <a:cubicBezTo>
                  <a:pt x="19507" y="9109"/>
                  <a:pt x="17601" y="6561"/>
                  <a:pt x="16620" y="2534"/>
                </a:cubicBezTo>
                <a:lnTo>
                  <a:pt x="16620" y="0"/>
                </a:lnTo>
                <a:lnTo>
                  <a:pt x="15756" y="0"/>
                </a:lnTo>
                <a:lnTo>
                  <a:pt x="15756" y="2631"/>
                </a:lnTo>
                <a:cubicBezTo>
                  <a:pt x="14768" y="6602"/>
                  <a:pt x="12877" y="9109"/>
                  <a:pt x="10800" y="9109"/>
                </a:cubicBezTo>
                <a:cubicBezTo>
                  <a:pt x="8707" y="9109"/>
                  <a:pt x="6801" y="6561"/>
                  <a:pt x="5820" y="2534"/>
                </a:cubicBezTo>
                <a:lnTo>
                  <a:pt x="5820" y="0"/>
                </a:lnTo>
                <a:lnTo>
                  <a:pt x="4956" y="0"/>
                </a:lnTo>
                <a:close/>
                <a:moveTo>
                  <a:pt x="5820" y="4348"/>
                </a:moveTo>
                <a:cubicBezTo>
                  <a:pt x="6082" y="5170"/>
                  <a:pt x="6382" y="5918"/>
                  <a:pt x="6715" y="6583"/>
                </a:cubicBezTo>
                <a:lnTo>
                  <a:pt x="6715" y="15386"/>
                </a:lnTo>
                <a:lnTo>
                  <a:pt x="5820" y="15386"/>
                </a:lnTo>
                <a:lnTo>
                  <a:pt x="5820" y="4348"/>
                </a:lnTo>
                <a:close/>
                <a:moveTo>
                  <a:pt x="16620" y="4348"/>
                </a:moveTo>
                <a:cubicBezTo>
                  <a:pt x="16916" y="5277"/>
                  <a:pt x="17261" y="6113"/>
                  <a:pt x="17646" y="6840"/>
                </a:cubicBezTo>
                <a:lnTo>
                  <a:pt x="17646" y="15386"/>
                </a:lnTo>
                <a:lnTo>
                  <a:pt x="16620" y="15386"/>
                </a:lnTo>
                <a:lnTo>
                  <a:pt x="16620" y="4348"/>
                </a:lnTo>
                <a:close/>
                <a:moveTo>
                  <a:pt x="4956" y="4422"/>
                </a:moveTo>
                <a:lnTo>
                  <a:pt x="4956" y="15386"/>
                </a:lnTo>
                <a:lnTo>
                  <a:pt x="4111" y="15386"/>
                </a:lnTo>
                <a:lnTo>
                  <a:pt x="4111" y="6531"/>
                </a:lnTo>
                <a:cubicBezTo>
                  <a:pt x="4423" y="5899"/>
                  <a:pt x="4707" y="5194"/>
                  <a:pt x="4956" y="4422"/>
                </a:cubicBezTo>
                <a:close/>
                <a:moveTo>
                  <a:pt x="15756" y="4422"/>
                </a:moveTo>
                <a:lnTo>
                  <a:pt x="15756" y="15386"/>
                </a:lnTo>
                <a:lnTo>
                  <a:pt x="14941" y="15386"/>
                </a:lnTo>
                <a:lnTo>
                  <a:pt x="14941" y="6471"/>
                </a:lnTo>
                <a:cubicBezTo>
                  <a:pt x="15241" y="5855"/>
                  <a:pt x="15515" y="5169"/>
                  <a:pt x="15756" y="4422"/>
                </a:cubicBezTo>
                <a:close/>
                <a:moveTo>
                  <a:pt x="14725" y="6893"/>
                </a:moveTo>
                <a:lnTo>
                  <a:pt x="14725" y="15386"/>
                </a:lnTo>
                <a:lnTo>
                  <a:pt x="13606" y="15386"/>
                </a:lnTo>
                <a:lnTo>
                  <a:pt x="13606" y="8550"/>
                </a:lnTo>
                <a:cubicBezTo>
                  <a:pt x="14006" y="8091"/>
                  <a:pt x="14381" y="7535"/>
                  <a:pt x="14725" y="6893"/>
                </a:cubicBezTo>
                <a:close/>
                <a:moveTo>
                  <a:pt x="3895" y="6952"/>
                </a:moveTo>
                <a:lnTo>
                  <a:pt x="3895" y="15386"/>
                </a:lnTo>
                <a:lnTo>
                  <a:pt x="2685" y="15386"/>
                </a:lnTo>
                <a:lnTo>
                  <a:pt x="2685" y="8684"/>
                </a:lnTo>
                <a:cubicBezTo>
                  <a:pt x="3118" y="8214"/>
                  <a:pt x="3524" y="7635"/>
                  <a:pt x="3895" y="6952"/>
                </a:cubicBezTo>
                <a:close/>
                <a:moveTo>
                  <a:pt x="6931" y="6997"/>
                </a:moveTo>
                <a:cubicBezTo>
                  <a:pt x="7276" y="7625"/>
                  <a:pt x="7651" y="8167"/>
                  <a:pt x="8049" y="8613"/>
                </a:cubicBezTo>
                <a:lnTo>
                  <a:pt x="8049" y="15386"/>
                </a:lnTo>
                <a:lnTo>
                  <a:pt x="6931" y="15386"/>
                </a:lnTo>
                <a:lnTo>
                  <a:pt x="6931" y="6997"/>
                </a:lnTo>
                <a:close/>
                <a:moveTo>
                  <a:pt x="17862" y="7229"/>
                </a:moveTo>
                <a:cubicBezTo>
                  <a:pt x="18235" y="7870"/>
                  <a:pt x="18641" y="8417"/>
                  <a:pt x="19072" y="8852"/>
                </a:cubicBezTo>
                <a:lnTo>
                  <a:pt x="19072" y="15386"/>
                </a:lnTo>
                <a:lnTo>
                  <a:pt x="17862" y="15386"/>
                </a:lnTo>
                <a:lnTo>
                  <a:pt x="17862" y="7229"/>
                </a:lnTo>
                <a:close/>
                <a:moveTo>
                  <a:pt x="13390" y="8789"/>
                </a:moveTo>
                <a:lnTo>
                  <a:pt x="13390" y="15386"/>
                </a:lnTo>
                <a:lnTo>
                  <a:pt x="12271" y="15386"/>
                </a:lnTo>
                <a:lnTo>
                  <a:pt x="12271" y="9666"/>
                </a:lnTo>
                <a:cubicBezTo>
                  <a:pt x="12659" y="9452"/>
                  <a:pt x="13033" y="9160"/>
                  <a:pt x="13390" y="8789"/>
                </a:cubicBezTo>
                <a:close/>
                <a:moveTo>
                  <a:pt x="8265" y="8845"/>
                </a:moveTo>
                <a:cubicBezTo>
                  <a:pt x="8623" y="9207"/>
                  <a:pt x="8997" y="9491"/>
                  <a:pt x="9384" y="9695"/>
                </a:cubicBezTo>
                <a:lnTo>
                  <a:pt x="9384" y="15386"/>
                </a:lnTo>
                <a:lnTo>
                  <a:pt x="8265" y="15386"/>
                </a:lnTo>
                <a:lnTo>
                  <a:pt x="8265" y="8845"/>
                </a:lnTo>
                <a:close/>
                <a:moveTo>
                  <a:pt x="2469" y="8908"/>
                </a:moveTo>
                <a:lnTo>
                  <a:pt x="2469" y="15386"/>
                </a:lnTo>
                <a:lnTo>
                  <a:pt x="1352" y="15386"/>
                </a:lnTo>
                <a:lnTo>
                  <a:pt x="1352" y="9729"/>
                </a:lnTo>
                <a:cubicBezTo>
                  <a:pt x="1738" y="9535"/>
                  <a:pt x="2111" y="9259"/>
                  <a:pt x="2469" y="8908"/>
                </a:cubicBezTo>
                <a:close/>
                <a:moveTo>
                  <a:pt x="19288" y="9057"/>
                </a:moveTo>
                <a:cubicBezTo>
                  <a:pt x="19647" y="9383"/>
                  <a:pt x="20020" y="9633"/>
                  <a:pt x="20405" y="9804"/>
                </a:cubicBezTo>
                <a:lnTo>
                  <a:pt x="20405" y="15386"/>
                </a:lnTo>
                <a:lnTo>
                  <a:pt x="19288" y="15386"/>
                </a:lnTo>
                <a:lnTo>
                  <a:pt x="19288" y="9057"/>
                </a:lnTo>
                <a:close/>
                <a:moveTo>
                  <a:pt x="12056" y="9777"/>
                </a:moveTo>
                <a:lnTo>
                  <a:pt x="12056" y="15386"/>
                </a:lnTo>
                <a:lnTo>
                  <a:pt x="10937" y="15386"/>
                </a:lnTo>
                <a:lnTo>
                  <a:pt x="10937" y="10061"/>
                </a:lnTo>
                <a:cubicBezTo>
                  <a:pt x="11317" y="10042"/>
                  <a:pt x="11691" y="9947"/>
                  <a:pt x="12056" y="9777"/>
                </a:cubicBezTo>
                <a:close/>
                <a:moveTo>
                  <a:pt x="9600" y="9800"/>
                </a:moveTo>
                <a:cubicBezTo>
                  <a:pt x="9965" y="9962"/>
                  <a:pt x="10340" y="10054"/>
                  <a:pt x="10721" y="10065"/>
                </a:cubicBezTo>
                <a:lnTo>
                  <a:pt x="10721" y="15386"/>
                </a:lnTo>
                <a:lnTo>
                  <a:pt x="9600" y="15386"/>
                </a:lnTo>
                <a:lnTo>
                  <a:pt x="9600" y="9800"/>
                </a:lnTo>
                <a:close/>
              </a:path>
            </a:pathLst>
          </a:custGeom>
          <a:solidFill>
            <a:srgbClr val="5AC4F6"/>
          </a:solidFill>
          <a:ln w="12700">
            <a:miter lim="400000"/>
          </a:ln>
        </p:spPr>
        <p:txBody>
          <a:bodyPr lIns="127000" tIns="127000" rIns="127000" bIns="127000" anchor="ctr">
            <a:normAutofit fontScale="100000" lnSpcReduction="0"/>
          </a:bodyPr>
          <a:lstStyle/>
          <a:p>
            <a:pPr algn="ct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Helvetica"/>
                <a:ea typeface="Helvetica"/>
                <a:cs typeface="Helvetica"/>
                <a:sym typeface="Helvetica"/>
              </a:defRPr>
            </a:pPr>
          </a:p>
        </p:txBody>
      </p:sp>
      <p:sp>
        <p:nvSpPr>
          <p:cNvPr id="258" name="Line"/>
          <p:cNvSpPr/>
          <p:nvPr/>
        </p:nvSpPr>
        <p:spPr>
          <a:xfrm>
            <a:off x="11789533" y="9575325"/>
            <a:ext cx="855029" cy="1"/>
          </a:xfrm>
          <a:prstGeom prst="line">
            <a:avLst/>
          </a:prstGeom>
          <a:ln w="38100">
            <a:solidFill>
              <a:srgbClr val="000000"/>
            </a:solidFill>
            <a:miter lim="400000"/>
            <a:tailEnd type="triangle"/>
          </a:ln>
        </p:spPr>
        <p:txBody>
          <a:bodyPr lIns="127000" tIns="127000" rIns="127000" bIns="127000" anchor="ctr">
            <a:normAutofit fontScale="100000" lnSpcReduction="0"/>
          </a:bodyPr>
          <a:lstStyle/>
          <a:p>
            <a:pPr defTabSz="457200">
              <a:lnSpc>
                <a:spcPct val="100000"/>
              </a:lnSpc>
              <a:spcBef>
                <a:spcPts val="0"/>
              </a:spcBef>
              <a:defRPr sz="1200">
                <a:latin typeface="Helvetica"/>
                <a:ea typeface="Helvetica"/>
                <a:cs typeface="Helvetica"/>
                <a:sym typeface="Helvetica"/>
              </a:defRPr>
            </a:pPr>
          </a:p>
        </p:txBody>
      </p:sp>
      <p:sp>
        <p:nvSpPr>
          <p:cNvPr id="259" name="Shape"/>
          <p:cNvSpPr/>
          <p:nvPr/>
        </p:nvSpPr>
        <p:spPr>
          <a:xfrm>
            <a:off x="12921511" y="7057089"/>
            <a:ext cx="890439" cy="9873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3350" y="8250"/>
                </a:lnTo>
                <a:lnTo>
                  <a:pt x="21600" y="8250"/>
                </a:lnTo>
                <a:lnTo>
                  <a:pt x="14926" y="13350"/>
                </a:lnTo>
                <a:lnTo>
                  <a:pt x="17475" y="21600"/>
                </a:lnTo>
                <a:lnTo>
                  <a:pt x="10800" y="16501"/>
                </a:lnTo>
                <a:lnTo>
                  <a:pt x="4125" y="21600"/>
                </a:lnTo>
                <a:lnTo>
                  <a:pt x="6674" y="13350"/>
                </a:lnTo>
                <a:lnTo>
                  <a:pt x="0" y="8250"/>
                </a:lnTo>
                <a:lnTo>
                  <a:pt x="8250" y="8250"/>
                </a:ln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60" name="Shape"/>
          <p:cNvSpPr/>
          <p:nvPr/>
        </p:nvSpPr>
        <p:spPr>
          <a:xfrm>
            <a:off x="1249008" y="4525319"/>
            <a:ext cx="1083048" cy="1612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10756" y="0"/>
                  <a:pt x="10712" y="15"/>
                  <a:pt x="10692" y="47"/>
                </a:cubicBezTo>
                <a:lnTo>
                  <a:pt x="1264" y="15519"/>
                </a:lnTo>
                <a:cubicBezTo>
                  <a:pt x="1219" y="15592"/>
                  <a:pt x="1345" y="15659"/>
                  <a:pt x="1439" y="15612"/>
                </a:cubicBezTo>
                <a:cubicBezTo>
                  <a:pt x="5951" y="13347"/>
                  <a:pt x="15677" y="13362"/>
                  <a:pt x="20160" y="15612"/>
                </a:cubicBezTo>
                <a:cubicBezTo>
                  <a:pt x="20255" y="15659"/>
                  <a:pt x="20381" y="15592"/>
                  <a:pt x="20336" y="15519"/>
                </a:cubicBezTo>
                <a:lnTo>
                  <a:pt x="10908" y="47"/>
                </a:lnTo>
                <a:cubicBezTo>
                  <a:pt x="10888" y="15"/>
                  <a:pt x="10844" y="0"/>
                  <a:pt x="10800" y="0"/>
                </a:cubicBezTo>
                <a:close/>
                <a:moveTo>
                  <a:pt x="10800" y="14353"/>
                </a:moveTo>
                <a:cubicBezTo>
                  <a:pt x="4836" y="14353"/>
                  <a:pt x="0" y="15976"/>
                  <a:pt x="0" y="17980"/>
                </a:cubicBezTo>
                <a:cubicBezTo>
                  <a:pt x="0" y="19983"/>
                  <a:pt x="4836" y="21600"/>
                  <a:pt x="10800" y="21600"/>
                </a:cubicBezTo>
                <a:cubicBezTo>
                  <a:pt x="16764" y="21600"/>
                  <a:pt x="21600" y="19983"/>
                  <a:pt x="21600" y="17980"/>
                </a:cubicBezTo>
                <a:cubicBezTo>
                  <a:pt x="21600" y="15976"/>
                  <a:pt x="16764" y="14353"/>
                  <a:pt x="10800" y="14353"/>
                </a:cubicBezTo>
                <a:close/>
              </a:path>
            </a:pathLst>
          </a:custGeom>
          <a:solidFill>
            <a:srgbClr val="00A1FF"/>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61" name="Shape"/>
          <p:cNvSpPr/>
          <p:nvPr/>
        </p:nvSpPr>
        <p:spPr>
          <a:xfrm>
            <a:off x="1084468" y="360197"/>
            <a:ext cx="1412128" cy="1412154"/>
          </a:xfrm>
          <a:custGeom>
            <a:avLst/>
            <a:gdLst/>
            <a:ahLst/>
            <a:cxnLst>
              <a:cxn ang="0">
                <a:pos x="wd2" y="hd2"/>
              </a:cxn>
              <a:cxn ang="5400000">
                <a:pos x="wd2" y="hd2"/>
              </a:cxn>
              <a:cxn ang="10800000">
                <a:pos x="wd2" y="hd2"/>
              </a:cxn>
              <a:cxn ang="16200000">
                <a:pos x="wd2" y="hd2"/>
              </a:cxn>
            </a:cxnLst>
            <a:rect l="0" t="0" r="r" b="b"/>
            <a:pathLst>
              <a:path w="19679" h="20595" fill="norm" stroke="1" extrusionOk="0">
                <a:moveTo>
                  <a:pt x="9839" y="0"/>
                </a:moveTo>
                <a:cubicBezTo>
                  <a:pt x="7321" y="0"/>
                  <a:pt x="4803" y="1006"/>
                  <a:pt x="2881" y="3016"/>
                </a:cubicBezTo>
                <a:cubicBezTo>
                  <a:pt x="-961" y="7037"/>
                  <a:pt x="-961" y="13558"/>
                  <a:pt x="2881" y="17579"/>
                </a:cubicBezTo>
                <a:cubicBezTo>
                  <a:pt x="6724" y="21600"/>
                  <a:pt x="12954" y="21600"/>
                  <a:pt x="16797" y="17579"/>
                </a:cubicBezTo>
                <a:cubicBezTo>
                  <a:pt x="20639" y="13558"/>
                  <a:pt x="20639" y="7037"/>
                  <a:pt x="16797" y="3016"/>
                </a:cubicBezTo>
                <a:cubicBezTo>
                  <a:pt x="14875" y="1006"/>
                  <a:pt x="12357" y="0"/>
                  <a:pt x="9839" y="0"/>
                </a:cubicBezTo>
                <a:close/>
                <a:moveTo>
                  <a:pt x="6165" y="4684"/>
                </a:moveTo>
                <a:cubicBezTo>
                  <a:pt x="6180" y="4684"/>
                  <a:pt x="6194" y="4690"/>
                  <a:pt x="6205" y="4702"/>
                </a:cubicBezTo>
                <a:lnTo>
                  <a:pt x="9799" y="8462"/>
                </a:lnTo>
                <a:cubicBezTo>
                  <a:pt x="9822" y="8486"/>
                  <a:pt x="9858" y="8486"/>
                  <a:pt x="9881" y="8462"/>
                </a:cubicBezTo>
                <a:lnTo>
                  <a:pt x="13474" y="4702"/>
                </a:lnTo>
                <a:cubicBezTo>
                  <a:pt x="13497" y="4678"/>
                  <a:pt x="13533" y="4678"/>
                  <a:pt x="13556" y="4702"/>
                </a:cubicBezTo>
                <a:lnTo>
                  <a:pt x="15186" y="6408"/>
                </a:lnTo>
                <a:cubicBezTo>
                  <a:pt x="15209" y="6432"/>
                  <a:pt x="15209" y="6471"/>
                  <a:pt x="15186" y="6495"/>
                </a:cubicBezTo>
                <a:lnTo>
                  <a:pt x="11593" y="10254"/>
                </a:lnTo>
                <a:cubicBezTo>
                  <a:pt x="11570" y="10278"/>
                  <a:pt x="11570" y="10317"/>
                  <a:pt x="11593" y="10341"/>
                </a:cubicBezTo>
                <a:lnTo>
                  <a:pt x="15186" y="14100"/>
                </a:lnTo>
                <a:cubicBezTo>
                  <a:pt x="15209" y="14124"/>
                  <a:pt x="15209" y="14162"/>
                  <a:pt x="15186" y="14186"/>
                </a:cubicBezTo>
                <a:lnTo>
                  <a:pt x="13556" y="15892"/>
                </a:lnTo>
                <a:cubicBezTo>
                  <a:pt x="13533" y="15916"/>
                  <a:pt x="13497" y="15916"/>
                  <a:pt x="13474" y="15892"/>
                </a:cubicBezTo>
                <a:lnTo>
                  <a:pt x="9881" y="12133"/>
                </a:lnTo>
                <a:cubicBezTo>
                  <a:pt x="9858" y="12109"/>
                  <a:pt x="9822" y="12109"/>
                  <a:pt x="9799" y="12133"/>
                </a:cubicBezTo>
                <a:lnTo>
                  <a:pt x="6205" y="15892"/>
                </a:lnTo>
                <a:cubicBezTo>
                  <a:pt x="6183" y="15916"/>
                  <a:pt x="6147" y="15916"/>
                  <a:pt x="6124" y="15892"/>
                </a:cubicBezTo>
                <a:lnTo>
                  <a:pt x="4493" y="14186"/>
                </a:lnTo>
                <a:cubicBezTo>
                  <a:pt x="4471" y="14162"/>
                  <a:pt x="4471" y="14124"/>
                  <a:pt x="4493" y="14100"/>
                </a:cubicBezTo>
                <a:lnTo>
                  <a:pt x="8085" y="10341"/>
                </a:lnTo>
                <a:cubicBezTo>
                  <a:pt x="8108" y="10317"/>
                  <a:pt x="8108" y="10278"/>
                  <a:pt x="8085" y="10254"/>
                </a:cubicBezTo>
                <a:lnTo>
                  <a:pt x="4493" y="6495"/>
                </a:lnTo>
                <a:cubicBezTo>
                  <a:pt x="4471" y="6471"/>
                  <a:pt x="4471" y="6432"/>
                  <a:pt x="4493" y="6408"/>
                </a:cubicBezTo>
                <a:lnTo>
                  <a:pt x="6124" y="4702"/>
                </a:lnTo>
                <a:cubicBezTo>
                  <a:pt x="6135" y="4690"/>
                  <a:pt x="6151" y="4684"/>
                  <a:pt x="6165" y="4684"/>
                </a:cubicBezTo>
                <a:close/>
              </a:path>
            </a:pathLst>
          </a:custGeom>
          <a:solidFill>
            <a:srgbClr val="000000"/>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62" name="Shape"/>
          <p:cNvSpPr/>
          <p:nvPr/>
        </p:nvSpPr>
        <p:spPr>
          <a:xfrm>
            <a:off x="1249008" y="2448891"/>
            <a:ext cx="1083048" cy="1612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10756" y="0"/>
                  <a:pt x="10712" y="15"/>
                  <a:pt x="10692" y="47"/>
                </a:cubicBezTo>
                <a:lnTo>
                  <a:pt x="1264" y="15519"/>
                </a:lnTo>
                <a:cubicBezTo>
                  <a:pt x="1219" y="15592"/>
                  <a:pt x="1345" y="15659"/>
                  <a:pt x="1439" y="15612"/>
                </a:cubicBezTo>
                <a:cubicBezTo>
                  <a:pt x="5951" y="13347"/>
                  <a:pt x="15677" y="13362"/>
                  <a:pt x="20160" y="15612"/>
                </a:cubicBezTo>
                <a:cubicBezTo>
                  <a:pt x="20255" y="15659"/>
                  <a:pt x="20381" y="15592"/>
                  <a:pt x="20336" y="15519"/>
                </a:cubicBezTo>
                <a:lnTo>
                  <a:pt x="10908" y="47"/>
                </a:lnTo>
                <a:cubicBezTo>
                  <a:pt x="10888" y="15"/>
                  <a:pt x="10844" y="0"/>
                  <a:pt x="10800" y="0"/>
                </a:cubicBezTo>
                <a:close/>
                <a:moveTo>
                  <a:pt x="10800" y="14353"/>
                </a:moveTo>
                <a:cubicBezTo>
                  <a:pt x="4836" y="14353"/>
                  <a:pt x="0" y="15976"/>
                  <a:pt x="0" y="17980"/>
                </a:cubicBezTo>
                <a:cubicBezTo>
                  <a:pt x="0" y="19983"/>
                  <a:pt x="4836" y="21600"/>
                  <a:pt x="10800" y="21600"/>
                </a:cubicBezTo>
                <a:cubicBezTo>
                  <a:pt x="16764" y="21600"/>
                  <a:pt x="21600" y="19983"/>
                  <a:pt x="21600" y="17980"/>
                </a:cubicBezTo>
                <a:cubicBezTo>
                  <a:pt x="21600" y="15976"/>
                  <a:pt x="16764" y="14353"/>
                  <a:pt x="10800" y="14353"/>
                </a:cubicBezTo>
                <a:close/>
              </a:path>
            </a:pathLst>
          </a:custGeom>
          <a:solidFill>
            <a:schemeClr val="accent6"/>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63" name="Shape"/>
          <p:cNvSpPr/>
          <p:nvPr/>
        </p:nvSpPr>
        <p:spPr>
          <a:xfrm>
            <a:off x="1249008" y="6476681"/>
            <a:ext cx="1083048" cy="1612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10756" y="0"/>
                  <a:pt x="10712" y="15"/>
                  <a:pt x="10692" y="47"/>
                </a:cubicBezTo>
                <a:lnTo>
                  <a:pt x="1264" y="15519"/>
                </a:lnTo>
                <a:cubicBezTo>
                  <a:pt x="1219" y="15592"/>
                  <a:pt x="1345" y="15659"/>
                  <a:pt x="1439" y="15612"/>
                </a:cubicBezTo>
                <a:cubicBezTo>
                  <a:pt x="5951" y="13347"/>
                  <a:pt x="15677" y="13362"/>
                  <a:pt x="20160" y="15612"/>
                </a:cubicBezTo>
                <a:cubicBezTo>
                  <a:pt x="20255" y="15659"/>
                  <a:pt x="20381" y="15592"/>
                  <a:pt x="20336" y="15519"/>
                </a:cubicBezTo>
                <a:lnTo>
                  <a:pt x="10908" y="47"/>
                </a:lnTo>
                <a:cubicBezTo>
                  <a:pt x="10888" y="15"/>
                  <a:pt x="10844" y="0"/>
                  <a:pt x="10800" y="0"/>
                </a:cubicBezTo>
                <a:close/>
                <a:moveTo>
                  <a:pt x="10800" y="14353"/>
                </a:moveTo>
                <a:cubicBezTo>
                  <a:pt x="4836" y="14353"/>
                  <a:pt x="0" y="15976"/>
                  <a:pt x="0" y="17980"/>
                </a:cubicBezTo>
                <a:cubicBezTo>
                  <a:pt x="0" y="19983"/>
                  <a:pt x="4836" y="21600"/>
                  <a:pt x="10800" y="21600"/>
                </a:cubicBezTo>
                <a:cubicBezTo>
                  <a:pt x="16764" y="21600"/>
                  <a:pt x="21600" y="19983"/>
                  <a:pt x="21600" y="17980"/>
                </a:cubicBezTo>
                <a:cubicBezTo>
                  <a:pt x="21600" y="15976"/>
                  <a:pt x="16764" y="14353"/>
                  <a:pt x="10800" y="14353"/>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64" name="Shape"/>
          <p:cNvSpPr/>
          <p:nvPr/>
        </p:nvSpPr>
        <p:spPr>
          <a:xfrm>
            <a:off x="1249008" y="8428042"/>
            <a:ext cx="1083048" cy="1612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10756" y="0"/>
                  <a:pt x="10712" y="15"/>
                  <a:pt x="10692" y="47"/>
                </a:cubicBezTo>
                <a:lnTo>
                  <a:pt x="1264" y="15519"/>
                </a:lnTo>
                <a:cubicBezTo>
                  <a:pt x="1219" y="15592"/>
                  <a:pt x="1345" y="15659"/>
                  <a:pt x="1439" y="15612"/>
                </a:cubicBezTo>
                <a:cubicBezTo>
                  <a:pt x="5951" y="13347"/>
                  <a:pt x="15677" y="13362"/>
                  <a:pt x="20160" y="15612"/>
                </a:cubicBezTo>
                <a:cubicBezTo>
                  <a:pt x="20255" y="15659"/>
                  <a:pt x="20381" y="15592"/>
                  <a:pt x="20336" y="15519"/>
                </a:cubicBezTo>
                <a:lnTo>
                  <a:pt x="10908" y="47"/>
                </a:lnTo>
                <a:cubicBezTo>
                  <a:pt x="10888" y="15"/>
                  <a:pt x="10844" y="0"/>
                  <a:pt x="10800" y="0"/>
                </a:cubicBezTo>
                <a:close/>
                <a:moveTo>
                  <a:pt x="10800" y="14353"/>
                </a:moveTo>
                <a:cubicBezTo>
                  <a:pt x="4836" y="14353"/>
                  <a:pt x="0" y="15976"/>
                  <a:pt x="0" y="17980"/>
                </a:cubicBezTo>
                <a:cubicBezTo>
                  <a:pt x="0" y="19983"/>
                  <a:pt x="4836" y="21600"/>
                  <a:pt x="10800" y="21600"/>
                </a:cubicBezTo>
                <a:cubicBezTo>
                  <a:pt x="16764" y="21600"/>
                  <a:pt x="21600" y="19983"/>
                  <a:pt x="21600" y="17980"/>
                </a:cubicBezTo>
                <a:cubicBezTo>
                  <a:pt x="21600" y="15976"/>
                  <a:pt x="16764" y="14353"/>
                  <a:pt x="10800" y="14353"/>
                </a:cubicBezTo>
                <a:close/>
              </a:path>
            </a:pathLst>
          </a:custGeom>
          <a:solidFill>
            <a:srgbClr val="ED220D"/>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65" name="Shape"/>
          <p:cNvSpPr/>
          <p:nvPr/>
        </p:nvSpPr>
        <p:spPr>
          <a:xfrm>
            <a:off x="1249008" y="10382140"/>
            <a:ext cx="1083048" cy="1612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10756" y="0"/>
                  <a:pt x="10712" y="15"/>
                  <a:pt x="10692" y="47"/>
                </a:cubicBezTo>
                <a:lnTo>
                  <a:pt x="1264" y="15519"/>
                </a:lnTo>
                <a:cubicBezTo>
                  <a:pt x="1219" y="15592"/>
                  <a:pt x="1345" y="15659"/>
                  <a:pt x="1439" y="15612"/>
                </a:cubicBezTo>
                <a:cubicBezTo>
                  <a:pt x="5951" y="13347"/>
                  <a:pt x="15677" y="13362"/>
                  <a:pt x="20160" y="15612"/>
                </a:cubicBezTo>
                <a:cubicBezTo>
                  <a:pt x="20255" y="15659"/>
                  <a:pt x="20381" y="15592"/>
                  <a:pt x="20336" y="15519"/>
                </a:cubicBezTo>
                <a:lnTo>
                  <a:pt x="10908" y="47"/>
                </a:lnTo>
                <a:cubicBezTo>
                  <a:pt x="10888" y="15"/>
                  <a:pt x="10844" y="0"/>
                  <a:pt x="10800" y="0"/>
                </a:cubicBezTo>
                <a:close/>
                <a:moveTo>
                  <a:pt x="10800" y="14353"/>
                </a:moveTo>
                <a:cubicBezTo>
                  <a:pt x="4836" y="14353"/>
                  <a:pt x="0" y="15976"/>
                  <a:pt x="0" y="17980"/>
                </a:cubicBezTo>
                <a:cubicBezTo>
                  <a:pt x="0" y="19983"/>
                  <a:pt x="4836" y="21600"/>
                  <a:pt x="10800" y="21600"/>
                </a:cubicBezTo>
                <a:cubicBezTo>
                  <a:pt x="16764" y="21600"/>
                  <a:pt x="21600" y="19983"/>
                  <a:pt x="21600" y="17980"/>
                </a:cubicBezTo>
                <a:cubicBezTo>
                  <a:pt x="21600" y="15976"/>
                  <a:pt x="16764" y="14353"/>
                  <a:pt x="10800" y="14353"/>
                </a:cubicBezTo>
                <a:close/>
              </a:path>
            </a:pathLst>
          </a:custGeom>
          <a:solidFill>
            <a:schemeClr val="accent4">
              <a:hueOff val="-476017"/>
              <a:lumOff val="-10042"/>
            </a:schemeClr>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66" name="Grupo 1"/>
          <p:cNvSpPr txBox="1"/>
          <p:nvPr/>
        </p:nvSpPr>
        <p:spPr>
          <a:xfrm>
            <a:off x="2630586" y="2980258"/>
            <a:ext cx="2338732" cy="8084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Grupo 1</a:t>
            </a:r>
          </a:p>
        </p:txBody>
      </p:sp>
      <p:sp>
        <p:nvSpPr>
          <p:cNvPr id="267" name="Grupo 2"/>
          <p:cNvSpPr txBox="1"/>
          <p:nvPr/>
        </p:nvSpPr>
        <p:spPr>
          <a:xfrm>
            <a:off x="2654053" y="4927153"/>
            <a:ext cx="2338731"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Grupo 2</a:t>
            </a:r>
          </a:p>
        </p:txBody>
      </p:sp>
      <p:sp>
        <p:nvSpPr>
          <p:cNvPr id="268" name="Grupo 3"/>
          <p:cNvSpPr txBox="1"/>
          <p:nvPr/>
        </p:nvSpPr>
        <p:spPr>
          <a:xfrm>
            <a:off x="2654053" y="6878515"/>
            <a:ext cx="2338731"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Grupo 3</a:t>
            </a:r>
          </a:p>
        </p:txBody>
      </p:sp>
      <p:sp>
        <p:nvSpPr>
          <p:cNvPr id="269" name="Grupo 4"/>
          <p:cNvSpPr txBox="1"/>
          <p:nvPr/>
        </p:nvSpPr>
        <p:spPr>
          <a:xfrm>
            <a:off x="2654053" y="8899573"/>
            <a:ext cx="2338731" cy="8084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Grupo 4</a:t>
            </a:r>
          </a:p>
        </p:txBody>
      </p:sp>
      <p:sp>
        <p:nvSpPr>
          <p:cNvPr id="270" name="Grupo 5"/>
          <p:cNvSpPr txBox="1"/>
          <p:nvPr/>
        </p:nvSpPr>
        <p:spPr>
          <a:xfrm>
            <a:off x="2654053" y="10920631"/>
            <a:ext cx="2338731" cy="8084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Grupo 5</a:t>
            </a:r>
          </a:p>
        </p:txBody>
      </p:sp>
      <p:sp>
        <p:nvSpPr>
          <p:cNvPr id="271" name="Shape"/>
          <p:cNvSpPr/>
          <p:nvPr/>
        </p:nvSpPr>
        <p:spPr>
          <a:xfrm>
            <a:off x="128099" y="4856680"/>
            <a:ext cx="949379" cy="9493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00A1FF"/>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72" name="Shape"/>
          <p:cNvSpPr/>
          <p:nvPr/>
        </p:nvSpPr>
        <p:spPr>
          <a:xfrm>
            <a:off x="128099" y="3036785"/>
            <a:ext cx="949379" cy="9493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chemeClr val="accent6"/>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73" name="Shape"/>
          <p:cNvSpPr/>
          <p:nvPr/>
        </p:nvSpPr>
        <p:spPr>
          <a:xfrm>
            <a:off x="128099" y="6808041"/>
            <a:ext cx="949379" cy="9493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74" name="Shape"/>
          <p:cNvSpPr/>
          <p:nvPr/>
        </p:nvSpPr>
        <p:spPr>
          <a:xfrm>
            <a:off x="128099" y="8829099"/>
            <a:ext cx="949379" cy="9493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ED220D"/>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75" name="Shape"/>
          <p:cNvSpPr/>
          <p:nvPr/>
        </p:nvSpPr>
        <p:spPr>
          <a:xfrm>
            <a:off x="128099" y="10713501"/>
            <a:ext cx="949379" cy="9493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chemeClr val="accent4">
              <a:hueOff val="-476017"/>
              <a:lumOff val="-10042"/>
            </a:schemeClr>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Reglas del juego"/>
          <p:cNvSpPr txBox="1"/>
          <p:nvPr>
            <p:ph type="body" idx="1"/>
          </p:nvPr>
        </p:nvSpPr>
        <p:spPr>
          <a:xfrm>
            <a:off x="1206500" y="1414460"/>
            <a:ext cx="21971000" cy="8256012"/>
          </a:xfrm>
          <a:prstGeom prst="rect">
            <a:avLst/>
          </a:prstGeom>
        </p:spPr>
        <p:txBody>
          <a:bodyPr/>
          <a:lstStyle>
            <a:lvl1pPr marL="0" indent="0">
              <a:lnSpc>
                <a:spcPct val="150000"/>
              </a:lnSpc>
              <a:spcBef>
                <a:spcPts val="0"/>
              </a:spcBef>
              <a:buSzTx/>
              <a:buNone/>
              <a:defRPr b="1" spc="-170" sz="8500"/>
            </a:lvl1pPr>
          </a:lstStyle>
          <a:p>
            <a:pPr/>
            <a:r>
              <a:t>Reglas del juego</a:t>
            </a:r>
          </a:p>
        </p:txBody>
      </p:sp>
      <p:sp>
        <p:nvSpPr>
          <p:cNvPr id="278" name="Se informan los derechos y deberes del  juego.…"/>
          <p:cNvSpPr txBox="1"/>
          <p:nvPr/>
        </p:nvSpPr>
        <p:spPr>
          <a:xfrm>
            <a:off x="1275551" y="3835399"/>
            <a:ext cx="22113495" cy="604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406400" indent="-406400">
              <a:lnSpc>
                <a:spcPct val="150000"/>
              </a:lnSpc>
              <a:spcBef>
                <a:spcPts val="0"/>
              </a:spcBef>
              <a:buSzPct val="123000"/>
              <a:buChar char="•"/>
              <a:defRPr spc="-64" sz="3200">
                <a:latin typeface="Georgia"/>
                <a:ea typeface="Georgia"/>
                <a:cs typeface="Georgia"/>
                <a:sym typeface="Georgia"/>
              </a:defRPr>
            </a:pPr>
            <a:r>
              <a:t>Se informan los derechos y deberes del  juego. </a:t>
            </a:r>
          </a:p>
          <a:p>
            <a:pPr marL="406400" indent="-406400">
              <a:lnSpc>
                <a:spcPct val="150000"/>
              </a:lnSpc>
              <a:spcBef>
                <a:spcPts val="0"/>
              </a:spcBef>
              <a:buSzPct val="123000"/>
              <a:buChar char="•"/>
              <a:defRPr spc="-64" sz="3200">
                <a:latin typeface="Georgia"/>
                <a:ea typeface="Georgia"/>
                <a:cs typeface="Georgia"/>
                <a:sym typeface="Georgia"/>
              </a:defRPr>
            </a:pPr>
            <a:r>
              <a:t>El participante tiene derecho a tener dos ayudas durante las preguntas, entre ellas, 50/50 y ayuda de un aprendiz de su grupo. </a:t>
            </a:r>
          </a:p>
          <a:p>
            <a:pPr marL="406400" indent="-406400">
              <a:lnSpc>
                <a:spcPct val="150000"/>
              </a:lnSpc>
              <a:spcBef>
                <a:spcPts val="0"/>
              </a:spcBef>
              <a:buSzPct val="123000"/>
              <a:buChar char="•"/>
              <a:defRPr spc="-64" sz="3200">
                <a:latin typeface="Georgia"/>
                <a:ea typeface="Georgia"/>
                <a:cs typeface="Georgia"/>
                <a:sym typeface="Georgia"/>
              </a:defRPr>
            </a:pPr>
            <a:r>
              <a:t>El participante tiene el deber de contestar la pregunta, de lo contrario no se otorgan puntos y puede ser descalificado el grupo.</a:t>
            </a:r>
          </a:p>
          <a:p>
            <a:pPr marL="406400" indent="-406400">
              <a:lnSpc>
                <a:spcPct val="150000"/>
              </a:lnSpc>
              <a:spcBef>
                <a:spcPts val="0"/>
              </a:spcBef>
              <a:buSzPct val="123000"/>
              <a:buChar char="•"/>
              <a:defRPr spc="-64" sz="3200">
                <a:latin typeface="Georgia"/>
                <a:ea typeface="Georgia"/>
                <a:cs typeface="Georgia"/>
                <a:sym typeface="Georgia"/>
              </a:defRPr>
            </a:pPr>
            <a:r>
              <a:t>El presentador lanza el dado para seleccionar un grupo.</a:t>
            </a:r>
          </a:p>
          <a:p>
            <a:pPr marL="406400" indent="-406400">
              <a:lnSpc>
                <a:spcPct val="150000"/>
              </a:lnSpc>
              <a:spcBef>
                <a:spcPts val="0"/>
              </a:spcBef>
              <a:buSzPct val="123000"/>
              <a:buChar char="•"/>
              <a:defRPr spc="-64" sz="3200">
                <a:latin typeface="Georgia"/>
                <a:ea typeface="Georgia"/>
                <a:cs typeface="Georgia"/>
                <a:sym typeface="Georgia"/>
              </a:defRPr>
            </a:pPr>
            <a:r>
              <a:t>El presentador debe indicar que se seleccione un aprendiz</a:t>
            </a:r>
          </a:p>
          <a:p>
            <a:pPr marL="406400" indent="-406400">
              <a:lnSpc>
                <a:spcPct val="150000"/>
              </a:lnSpc>
              <a:spcBef>
                <a:spcPts val="0"/>
              </a:spcBef>
              <a:buSzPct val="123000"/>
              <a:buChar char="•"/>
              <a:defRPr spc="-64" sz="3200">
                <a:latin typeface="Georgia"/>
                <a:ea typeface="Georgia"/>
                <a:cs typeface="Georgia"/>
                <a:sym typeface="Georgia"/>
              </a:defRPr>
            </a:pPr>
            <a:r>
              <a:t>El aprendiz lanza el dado y se desplaza a la escalera para hacer el movimiento.</a:t>
            </a:r>
          </a:p>
          <a:p>
            <a:pPr marL="406400" indent="-406400">
              <a:lnSpc>
                <a:spcPct val="150000"/>
              </a:lnSpc>
              <a:spcBef>
                <a:spcPts val="0"/>
              </a:spcBef>
              <a:buSzPct val="123000"/>
              <a:buChar char="•"/>
              <a:defRPr spc="-64" sz="3200">
                <a:latin typeface="Georgia"/>
                <a:ea typeface="Georgia"/>
                <a:cs typeface="Georgia"/>
                <a:sym typeface="Georgia"/>
              </a:defRPr>
            </a:pPr>
            <a:r>
              <a:t>El aprendiz aplica en el numero correspondiente y lee la pregunta para el grupo.</a:t>
            </a:r>
          </a:p>
          <a:p>
            <a:pPr marL="406400" indent="-406400">
              <a:lnSpc>
                <a:spcPct val="150000"/>
              </a:lnSpc>
              <a:spcBef>
                <a:spcPts val="0"/>
              </a:spcBef>
              <a:buSzPct val="123000"/>
              <a:buChar char="•"/>
              <a:defRPr spc="-64" sz="3200">
                <a:latin typeface="Georgia"/>
                <a:ea typeface="Georgia"/>
                <a:cs typeface="Georgia"/>
                <a:sym typeface="Georgia"/>
              </a:defRPr>
            </a:pPr>
            <a:r>
              <a:t>El aprendiz tiene derecho a obtener ayudas, y tiene el deber de responder la pregunta.</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Preguntas"/>
          <p:cNvSpPr txBox="1"/>
          <p:nvPr>
            <p:ph type="body" idx="1"/>
          </p:nvPr>
        </p:nvSpPr>
        <p:spPr>
          <a:xfrm>
            <a:off x="757542" y="1246101"/>
            <a:ext cx="21971001" cy="8256012"/>
          </a:xfrm>
          <a:prstGeom prst="rect">
            <a:avLst/>
          </a:prstGeom>
        </p:spPr>
        <p:txBody>
          <a:bodyPr/>
          <a:lstStyle>
            <a:lvl1pPr marL="0" indent="0">
              <a:lnSpc>
                <a:spcPct val="150000"/>
              </a:lnSpc>
              <a:spcBef>
                <a:spcPts val="0"/>
              </a:spcBef>
              <a:buSzTx/>
              <a:buNone/>
              <a:defRPr b="1" spc="-170" sz="8500"/>
            </a:lvl1pPr>
          </a:lstStyle>
          <a:p>
            <a:pPr/>
            <a:r>
              <a:t>Preguntas</a:t>
            </a:r>
          </a:p>
        </p:txBody>
      </p:sp>
      <p:sp>
        <p:nvSpPr>
          <p:cNvPr id="281" name="1. ¿ Que significa XP ?…"/>
          <p:cNvSpPr txBox="1"/>
          <p:nvPr/>
        </p:nvSpPr>
        <p:spPr>
          <a:xfrm>
            <a:off x="941472" y="2761723"/>
            <a:ext cx="14268064" cy="10325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50000"/>
              </a:lnSpc>
              <a:spcBef>
                <a:spcPts val="0"/>
              </a:spcBef>
              <a:defRPr b="1" spc="-79" sz="4000">
                <a:latin typeface="Georgia"/>
                <a:ea typeface="Georgia"/>
                <a:cs typeface="Georgia"/>
                <a:sym typeface="Georgia"/>
              </a:defRPr>
            </a:pPr>
            <a:r>
              <a:t>1. </a:t>
            </a:r>
            <a:r>
              <a:rPr b="0" u="sng">
                <a:hlinkClick r:id="rId2" invalidUrl="" action="ppaction://hlinksldjump" tgtFrame="" tooltip="" history="1" highlightClick="0" endSnd="0"/>
              </a:rPr>
              <a:t>¿ Que significa XP ?</a:t>
            </a:r>
            <a:endParaRPr b="0"/>
          </a:p>
          <a:p>
            <a:pPr>
              <a:lnSpc>
                <a:spcPct val="150000"/>
              </a:lnSpc>
              <a:spcBef>
                <a:spcPts val="0"/>
              </a:spcBef>
              <a:defRPr b="1" spc="-79" sz="4000">
                <a:latin typeface="Georgia"/>
                <a:ea typeface="Georgia"/>
                <a:cs typeface="Georgia"/>
                <a:sym typeface="Georgia"/>
              </a:defRPr>
            </a:pPr>
            <a:r>
              <a:t>2. </a:t>
            </a:r>
            <a:r>
              <a:rPr b="0" u="sng">
                <a:hlinkClick r:id="rId3" invalidUrl="" action="ppaction://hlinksldjump" tgtFrame="" tooltip="" history="1" highlightClick="0" endSnd="0"/>
              </a:rPr>
              <a:t>¿ Cuales son las 4 actividades en que se basa XP ?</a:t>
            </a:r>
            <a:endParaRPr b="0"/>
          </a:p>
          <a:p>
            <a:pPr>
              <a:lnSpc>
                <a:spcPct val="150000"/>
              </a:lnSpc>
              <a:spcBef>
                <a:spcPts val="0"/>
              </a:spcBef>
              <a:defRPr b="1" spc="-79" sz="4000">
                <a:latin typeface="Georgia"/>
                <a:ea typeface="Georgia"/>
                <a:cs typeface="Georgia"/>
                <a:sym typeface="Georgia"/>
              </a:defRPr>
            </a:pPr>
            <a:r>
              <a:t>3. </a:t>
            </a:r>
            <a:r>
              <a:rPr b="0" u="sng">
                <a:hlinkClick r:id="rId4" invalidUrl="" action="ppaction://hlinksldjump" tgtFrame="" tooltip="" history="1" highlightClick="0" endSnd="0"/>
              </a:rPr>
              <a:t>¿ Cuales son los 5 valores principales de XP ?</a:t>
            </a:r>
            <a:endParaRPr b="0"/>
          </a:p>
          <a:p>
            <a:pPr>
              <a:lnSpc>
                <a:spcPct val="150000"/>
              </a:lnSpc>
              <a:spcBef>
                <a:spcPts val="0"/>
              </a:spcBef>
              <a:defRPr b="1" spc="-79" sz="4000">
                <a:latin typeface="Georgia"/>
                <a:ea typeface="Georgia"/>
                <a:cs typeface="Georgia"/>
                <a:sym typeface="Georgia"/>
              </a:defRPr>
            </a:pPr>
            <a:r>
              <a:t>4. </a:t>
            </a:r>
            <a:r>
              <a:rPr b="0" u="sng">
                <a:hlinkClick r:id="rId5" invalidUrl="" action="ppaction://hlinksldjump" tgtFrame="" tooltip="" history="1" highlightClick="0" endSnd="0"/>
              </a:rPr>
              <a:t>¿ Quienes s0n los programadores que están en parejas ?</a:t>
            </a:r>
          </a:p>
          <a:p>
            <a:pPr>
              <a:lnSpc>
                <a:spcPct val="150000"/>
              </a:lnSpc>
              <a:spcBef>
                <a:spcPts val="0"/>
              </a:spcBef>
              <a:defRPr b="1" spc="-79" sz="4000">
                <a:latin typeface="Georgia"/>
                <a:ea typeface="Georgia"/>
                <a:cs typeface="Georgia"/>
                <a:sym typeface="Georgia"/>
              </a:defRPr>
            </a:pPr>
            <a:r>
              <a:t>5. </a:t>
            </a:r>
            <a:r>
              <a:rPr b="0" u="sng">
                <a:hlinkClick r:id="rId6" invalidUrl="" action="ppaction://hlinksldjump" tgtFrame="" tooltip="" history="1" highlightClick="0" endSnd="0"/>
              </a:rPr>
              <a:t>¿ Que significa TTD ?</a:t>
            </a:r>
            <a:endParaRPr b="0"/>
          </a:p>
          <a:p>
            <a:pPr>
              <a:lnSpc>
                <a:spcPct val="150000"/>
              </a:lnSpc>
              <a:spcBef>
                <a:spcPts val="0"/>
              </a:spcBef>
              <a:defRPr b="1" spc="-79" sz="4000">
                <a:latin typeface="Georgia"/>
                <a:ea typeface="Georgia"/>
                <a:cs typeface="Georgia"/>
                <a:sym typeface="Georgia"/>
              </a:defRPr>
            </a:pPr>
            <a:r>
              <a:t>6. </a:t>
            </a:r>
            <a:r>
              <a:rPr b="0" u="sng">
                <a:hlinkClick r:id="rId7" invalidUrl="" action="ppaction://hlinksldjump" tgtFrame="" tooltip="" history="1" highlightClick="0" endSnd="0"/>
              </a:rPr>
              <a:t>¿ El cliente es una persona como ?</a:t>
            </a:r>
            <a:endParaRPr b="0"/>
          </a:p>
          <a:p>
            <a:pPr>
              <a:lnSpc>
                <a:spcPct val="150000"/>
              </a:lnSpc>
              <a:spcBef>
                <a:spcPts val="0"/>
              </a:spcBef>
              <a:defRPr b="1" spc="-79" sz="4000">
                <a:latin typeface="Georgia"/>
                <a:ea typeface="Georgia"/>
                <a:cs typeface="Georgia"/>
                <a:sym typeface="Georgia"/>
              </a:defRPr>
            </a:pPr>
            <a:r>
              <a:t>7.</a:t>
            </a:r>
            <a:r>
              <a:rPr b="0"/>
              <a:t> </a:t>
            </a:r>
            <a:r>
              <a:rPr b="0" u="sng">
                <a:hlinkClick r:id="rId8" invalidUrl="" action="ppaction://hlinksldjump" tgtFrame="" tooltip="" history="1" highlightClick="0" endSnd="0"/>
              </a:rPr>
              <a:t>¿ El código a quien le pertenece ?</a:t>
            </a:r>
            <a:endParaRPr b="0"/>
          </a:p>
          <a:p>
            <a:pPr>
              <a:lnSpc>
                <a:spcPct val="150000"/>
              </a:lnSpc>
              <a:spcBef>
                <a:spcPts val="0"/>
              </a:spcBef>
              <a:defRPr b="1" spc="-79" sz="4000">
                <a:latin typeface="Georgia"/>
                <a:ea typeface="Georgia"/>
                <a:cs typeface="Georgia"/>
                <a:sym typeface="Georgia"/>
              </a:defRPr>
            </a:pPr>
            <a:r>
              <a:t>8.</a:t>
            </a:r>
            <a:r>
              <a:rPr b="0"/>
              <a:t> </a:t>
            </a:r>
            <a:r>
              <a:rPr b="0" u="sng">
                <a:hlinkClick r:id="rId9" invalidUrl="" action="ppaction://hlinksldjump" tgtFrame="" tooltip="" history="1" highlightClick="0" endSnd="0"/>
              </a:rPr>
              <a:t>¿ Que función tiene el Driver ?</a:t>
            </a:r>
            <a:endParaRPr b="0"/>
          </a:p>
          <a:p>
            <a:pPr>
              <a:lnSpc>
                <a:spcPct val="150000"/>
              </a:lnSpc>
              <a:spcBef>
                <a:spcPts val="0"/>
              </a:spcBef>
              <a:defRPr b="1" spc="-79" sz="4000">
                <a:latin typeface="Georgia"/>
                <a:ea typeface="Georgia"/>
                <a:cs typeface="Georgia"/>
                <a:sym typeface="Georgia"/>
              </a:defRPr>
            </a:pPr>
            <a:r>
              <a:t>9.</a:t>
            </a:r>
            <a:r>
              <a:rPr b="0"/>
              <a:t> </a:t>
            </a:r>
            <a:r>
              <a:rPr b="0" u="sng">
                <a:hlinkClick r:id="rId10" invalidUrl="" action="ppaction://hlinksldjump" tgtFrame="" tooltip="" history="1" highlightClick="0" endSnd="0"/>
              </a:rPr>
              <a:t>¿ Que función tiene el Navigator ?</a:t>
            </a:r>
            <a:endParaRPr b="0"/>
          </a:p>
          <a:p>
            <a:pPr>
              <a:lnSpc>
                <a:spcPct val="150000"/>
              </a:lnSpc>
              <a:spcBef>
                <a:spcPts val="0"/>
              </a:spcBef>
              <a:defRPr b="1" spc="-79" sz="4000">
                <a:latin typeface="Georgia"/>
                <a:ea typeface="Georgia"/>
                <a:cs typeface="Georgia"/>
                <a:sym typeface="Georgia"/>
              </a:defRPr>
            </a:pPr>
            <a:r>
              <a:t>10.</a:t>
            </a:r>
            <a:r>
              <a:rPr b="0" u="sng">
                <a:hlinkClick r:id="rId10" invalidUrl="" action="ppaction://hlinksldjump" tgtFrame="" tooltip="" history="1" highlightClick="0" endSnd="0"/>
              </a:rPr>
              <a:t> ¿ Que practica es la que se usa al escribir el código ante fallos ?</a:t>
            </a:r>
            <a:endParaRPr b="0"/>
          </a:p>
          <a:p>
            <a:pPr>
              <a:lnSpc>
                <a:spcPct val="150000"/>
              </a:lnSpc>
              <a:spcBef>
                <a:spcPts val="0"/>
              </a:spcBef>
              <a:defRPr b="1" spc="-79" sz="4000">
                <a:latin typeface="Georgia"/>
                <a:ea typeface="Georgia"/>
                <a:cs typeface="Georgia"/>
                <a:sym typeface="Georgia"/>
              </a:defRPr>
            </a:pPr>
            <a:r>
              <a:t>11. </a:t>
            </a:r>
            <a:r>
              <a:rPr b="0" u="sng">
                <a:hlinkClick r:id="rId11" invalidUrl="" action="ppaction://hlinksldjump" tgtFrame="" tooltip="" history="1" highlightClick="0" endSnd="0"/>
              </a:rPr>
              <a:t>¿ A donde se suben los repositorios del código ?</a:t>
            </a:r>
            <a:endParaRPr b="0"/>
          </a:p>
          <a:p>
            <a:pPr>
              <a:lnSpc>
                <a:spcPct val="150000"/>
              </a:lnSpc>
              <a:spcBef>
                <a:spcPts val="0"/>
              </a:spcBef>
              <a:defRPr b="1" spc="-79" sz="4000">
                <a:latin typeface="Georgia"/>
                <a:ea typeface="Georgia"/>
                <a:cs typeface="Georgia"/>
                <a:sym typeface="Georgia"/>
              </a:defRPr>
            </a:pPr>
            <a:r>
              <a:t>12.</a:t>
            </a:r>
            <a:r>
              <a:rPr b="0"/>
              <a:t> </a:t>
            </a:r>
            <a:r>
              <a:rPr b="0" u="sng">
                <a:hlinkClick r:id="rId12" invalidUrl="" action="ppaction://hlinksldjump" tgtFrame="" tooltip="" history="1" highlightClick="0" endSnd="0"/>
              </a:rPr>
              <a:t>¿ Cuantas veces al día se suben los repositorios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Pregunta 1…"/>
          <p:cNvSpPr txBox="1"/>
          <p:nvPr>
            <p:ph type="subTitle" sz="half" idx="1"/>
          </p:nvPr>
        </p:nvSpPr>
        <p:spPr>
          <a:xfrm>
            <a:off x="953961" y="1498983"/>
            <a:ext cx="21971001" cy="5777428"/>
          </a:xfrm>
          <a:prstGeom prst="rect">
            <a:avLst/>
          </a:prstGeom>
        </p:spPr>
        <p:txBody>
          <a:bodyPr/>
          <a:lstStyle/>
          <a:p>
            <a:pPr defTabSz="668655">
              <a:defRPr sz="4455"/>
            </a:pPr>
            <a:r>
              <a:t>Pregunta 1</a:t>
            </a:r>
          </a:p>
          <a:p>
            <a:pPr defTabSz="668655">
              <a:defRPr sz="4455"/>
            </a:pPr>
          </a:p>
          <a:p>
            <a:pPr defTabSz="668655">
              <a:lnSpc>
                <a:spcPct val="200000"/>
              </a:lnSpc>
              <a:defRPr b="0" sz="4293">
                <a:latin typeface="Times New Roman"/>
                <a:ea typeface="Times New Roman"/>
                <a:cs typeface="Times New Roman"/>
                <a:sym typeface="Times New Roman"/>
              </a:defRPr>
            </a:pPr>
            <a:r>
              <a:rPr u="sng">
                <a:hlinkClick r:id="rId2" invalidUrl="" action="ppaction://hlinksldjump" tgtFrame="" tooltip="" history="1" highlightClick="0" endSnd="0"/>
              </a:rPr>
              <a:t>A. Un sistema operativo</a:t>
            </a:r>
          </a:p>
          <a:p>
            <a:pPr defTabSz="668655">
              <a:lnSpc>
                <a:spcPct val="200000"/>
              </a:lnSpc>
              <a:defRPr b="0" sz="4293">
                <a:latin typeface="Times New Roman"/>
                <a:ea typeface="Times New Roman"/>
                <a:cs typeface="Times New Roman"/>
                <a:sym typeface="Times New Roman"/>
              </a:defRPr>
            </a:pPr>
            <a:r>
              <a:rPr u="sng">
                <a:hlinkClick r:id="rId2" invalidUrl="" action="ppaction://hlinksldjump" tgtFrame="" tooltip="" history="1" highlightClick="0" endSnd="0"/>
              </a:rPr>
              <a:t>B. Un lenguaje de programación para sistemas satelitales </a:t>
            </a:r>
          </a:p>
          <a:p>
            <a:pPr defTabSz="668655">
              <a:lnSpc>
                <a:spcPct val="200000"/>
              </a:lnSpc>
              <a:defRPr b="0" sz="4293" u="sng">
                <a:latin typeface="Times New Roman"/>
                <a:ea typeface="Times New Roman"/>
                <a:cs typeface="Times New Roman"/>
                <a:sym typeface="Times New Roman"/>
              </a:defRPr>
            </a:pPr>
            <a:r>
              <a:rPr>
                <a:hlinkClick r:id="rId3" invalidUrl="" action="ppaction://hlinksldjump" tgtFrame="" tooltip="" history="1" highlightClick="0" endSnd="0"/>
              </a:rPr>
              <a:t>C. Una experiencia de programación increíblemente extrema </a:t>
            </a:r>
          </a:p>
          <a:p>
            <a:pPr defTabSz="668655">
              <a:lnSpc>
                <a:spcPct val="200000"/>
              </a:lnSpc>
              <a:defRPr b="0" sz="4293">
                <a:latin typeface="Times New Roman"/>
                <a:ea typeface="Times New Roman"/>
                <a:cs typeface="Times New Roman"/>
                <a:sym typeface="Times New Roman"/>
              </a:defRPr>
            </a:pPr>
            <a:r>
              <a:rPr u="sng">
                <a:hlinkClick r:id="rId2" invalidUrl="" action="ppaction://hlinksldjump" tgtFrame="" tooltip="" history="1" highlightClick="0" endSnd="0"/>
              </a:rPr>
              <a:t>D. Una forma de expresar un emoji.</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Respuesta 1 okay…"/>
          <p:cNvSpPr txBox="1"/>
          <p:nvPr>
            <p:ph type="body" sz="half" idx="1"/>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1 okay</a:t>
            </a:r>
          </a:p>
          <a:p>
            <a:pPr marL="0" indent="0" defTabSz="825500">
              <a:lnSpc>
                <a:spcPct val="100000"/>
              </a:lnSpc>
              <a:spcBef>
                <a:spcPts val="0"/>
              </a:spcBef>
              <a:buSzTx/>
              <a:buNone/>
              <a:defRPr b="1" sz="5500"/>
            </a:pPr>
          </a:p>
          <a:p>
            <a:pPr marL="0" indent="0" defTabSz="825500">
              <a:lnSpc>
                <a:spcPct val="200000"/>
              </a:lnSpc>
              <a:spcBef>
                <a:spcPts val="0"/>
              </a:spcBef>
              <a:buSzTx/>
              <a:buNone/>
              <a:defRPr b="1" sz="5500"/>
            </a:pPr>
            <a:r>
              <a:t>c</a:t>
            </a:r>
            <a:r>
              <a:rPr sz="4000"/>
              <a:t>.</a:t>
            </a:r>
            <a:r>
              <a:t> </a:t>
            </a:r>
            <a:r>
              <a:rPr b="0" sz="4000">
                <a:latin typeface="Georgia"/>
                <a:ea typeface="Georgia"/>
                <a:cs typeface="Georgia"/>
                <a:sym typeface="Georgia"/>
              </a:rPr>
              <a:t>Una experiencia de programación increíblemente extrema </a:t>
            </a:r>
            <a:r>
              <a:rPr sz="4000" u="sng">
                <a:latin typeface="Georgia"/>
                <a:ea typeface="Georgia"/>
                <a:cs typeface="Georgia"/>
                <a:sym typeface="Georgia"/>
              </a:rPr>
              <a:t>Extreme Programming.</a:t>
            </a:r>
            <a:endParaRPr b="0" sz="4000">
              <a:latin typeface="Georgia"/>
              <a:ea typeface="Georgia"/>
              <a:cs typeface="Georgia"/>
              <a:sym typeface="Georgia"/>
            </a:endParaRPr>
          </a:p>
        </p:txBody>
      </p:sp>
      <p:sp>
        <p:nvSpPr>
          <p:cNvPr id="286"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Pregunta 2…"/>
          <p:cNvSpPr txBox="1"/>
          <p:nvPr>
            <p:ph type="body" sz="half" idx="4294967295"/>
          </p:nvPr>
        </p:nvSpPr>
        <p:spPr>
          <a:xfrm>
            <a:off x="953961" y="1498983"/>
            <a:ext cx="21971001" cy="5777428"/>
          </a:xfrm>
          <a:prstGeom prst="rect">
            <a:avLst/>
          </a:prstGeom>
        </p:spPr>
        <p:txBody>
          <a:bodyPr/>
          <a:lstStyle/>
          <a:p>
            <a:pPr marL="0" indent="0" defTabSz="668655">
              <a:lnSpc>
                <a:spcPct val="100000"/>
              </a:lnSpc>
              <a:spcBef>
                <a:spcPts val="0"/>
              </a:spcBef>
              <a:buSzTx/>
              <a:buNone/>
              <a:defRPr b="1" sz="4455"/>
            </a:pPr>
            <a:r>
              <a:t>Pregunta 2</a:t>
            </a:r>
          </a:p>
          <a:p>
            <a:pPr marL="0" indent="0" defTabSz="668655">
              <a:lnSpc>
                <a:spcPct val="100000"/>
              </a:lnSpc>
              <a:spcBef>
                <a:spcPts val="0"/>
              </a:spcBef>
              <a:buSzTx/>
              <a:buNone/>
              <a:defRPr b="1" sz="4455"/>
            </a:pP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Conocer una persona nueva</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B. Programar, encriptar, diseñar.</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2" invalidUrl="" action="ppaction://hlinksldjump" tgtFrame="" tooltip="" history="1" highlightClick="0" endSnd="0"/>
              </a:rPr>
              <a:t>C. Barrer, inventar, conocer, preguntar.</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D. planeación, diseño, codificación y pruebas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Respuesta 2 okay…"/>
          <p:cNvSpPr txBox="1"/>
          <p:nvPr>
            <p:ph type="body" sz="half" idx="1"/>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2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rPr b="1"/>
              <a:t>D.</a:t>
            </a:r>
            <a:r>
              <a:t> planeación, diseño, codificación y pruebas</a:t>
            </a:r>
            <a:endParaRPr>
              <a:latin typeface="Georgia"/>
              <a:ea typeface="Georgia"/>
              <a:cs typeface="Georgia"/>
              <a:sym typeface="Georgia"/>
            </a:endParaRPr>
          </a:p>
        </p:txBody>
      </p:sp>
      <p:sp>
        <p:nvSpPr>
          <p:cNvPr id="291"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Pregunta 3…"/>
          <p:cNvSpPr txBox="1"/>
          <p:nvPr>
            <p:ph type="subTitle" sz="half" idx="1"/>
          </p:nvPr>
        </p:nvSpPr>
        <p:spPr>
          <a:xfrm>
            <a:off x="953961" y="1498983"/>
            <a:ext cx="21971001" cy="5777428"/>
          </a:xfrm>
          <a:prstGeom prst="rect">
            <a:avLst/>
          </a:prstGeom>
        </p:spPr>
        <p:txBody>
          <a:bodyPr/>
          <a:lstStyle/>
          <a:p>
            <a:pPr defTabSz="668655">
              <a:defRPr sz="4455"/>
            </a:pPr>
            <a:r>
              <a:t>Pregunta 3</a:t>
            </a:r>
          </a:p>
          <a:p>
            <a:pPr defTabSz="668655">
              <a:defRPr sz="4455"/>
            </a:pPr>
          </a:p>
          <a:p>
            <a:pPr defTabSz="668655">
              <a:lnSpc>
                <a:spcPct val="200000"/>
              </a:lnSpc>
              <a:defRPr b="0" sz="4293">
                <a:latin typeface="Times New Roman"/>
                <a:ea typeface="Times New Roman"/>
                <a:cs typeface="Times New Roman"/>
                <a:sym typeface="Times New Roman"/>
              </a:defRPr>
            </a:pPr>
            <a:r>
              <a:rPr u="sng">
                <a:hlinkClick r:id="rId2" invalidUrl="" action="ppaction://hlinksldjump" tgtFrame="" tooltip="" history="1" highlightClick="0" endSnd="0"/>
              </a:rPr>
              <a:t>A. Canciones de Rolling Stones</a:t>
            </a:r>
          </a:p>
          <a:p>
            <a:pPr defTabSz="668655">
              <a:lnSpc>
                <a:spcPct val="200000"/>
              </a:lnSpc>
              <a:defRPr b="0" sz="4293">
                <a:latin typeface="Times New Roman"/>
                <a:ea typeface="Times New Roman"/>
                <a:cs typeface="Times New Roman"/>
                <a:sym typeface="Times New Roman"/>
              </a:defRPr>
            </a:pPr>
            <a:r>
              <a:rPr u="sng">
                <a:hlinkClick r:id="rId3" invalidUrl="" action="ppaction://hlinksldjump" tgtFrame="" tooltip="" history="1" highlightClick="0" endSnd="0"/>
              </a:rPr>
              <a:t>B. Simplicidad, Comunicación, Retroalimentación, Valentía y Respeto</a:t>
            </a:r>
          </a:p>
          <a:p>
            <a:pPr defTabSz="668655">
              <a:lnSpc>
                <a:spcPct val="200000"/>
              </a:lnSpc>
              <a:defRPr b="0" sz="4293" u="sng">
                <a:latin typeface="Times New Roman"/>
                <a:ea typeface="Times New Roman"/>
                <a:cs typeface="Times New Roman"/>
                <a:sym typeface="Times New Roman"/>
              </a:defRPr>
            </a:pPr>
            <a:r>
              <a:rPr>
                <a:hlinkClick r:id="rId2" invalidUrl="" action="ppaction://hlinksldjump" tgtFrame="" tooltip="" history="1" highlightClick="0" endSnd="0"/>
              </a:rPr>
              <a:t>C. Animación, Datos, Sistema, Conocimiento, Pyton.</a:t>
            </a:r>
          </a:p>
          <a:p>
            <a:pPr defTabSz="668655">
              <a:lnSpc>
                <a:spcPct val="200000"/>
              </a:lnSpc>
              <a:defRPr b="0" sz="4293">
                <a:latin typeface="Times New Roman"/>
                <a:ea typeface="Times New Roman"/>
                <a:cs typeface="Times New Roman"/>
                <a:sym typeface="Times New Roman"/>
              </a:defRPr>
            </a:pPr>
            <a:r>
              <a:rPr u="sng">
                <a:hlinkClick r:id="rId2" invalidUrl="" action="ppaction://hlinksldjump" tgtFrame="" tooltip="" history="1" highlightClick="0" endSnd="0"/>
              </a:rPr>
              <a:t>D. FTP, SSH, Telnet, www, RIP</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Respuesta 3 okay…"/>
          <p:cNvSpPr txBox="1"/>
          <p:nvPr>
            <p:ph type="body" sz="half" idx="1"/>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3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rPr b="1"/>
              <a:t>B.</a:t>
            </a:r>
            <a:r>
              <a:t> Simplicidad, Comunicación, Retroalimentación, Valentía y Respeto.</a:t>
            </a:r>
            <a:endParaRPr>
              <a:latin typeface="Georgia"/>
              <a:ea typeface="Georgia"/>
              <a:cs typeface="Georgia"/>
              <a:sym typeface="Georgia"/>
            </a:endParaRPr>
          </a:p>
        </p:txBody>
      </p:sp>
      <p:sp>
        <p:nvSpPr>
          <p:cNvPr id="296"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Pregunta 4…"/>
          <p:cNvSpPr txBox="1"/>
          <p:nvPr>
            <p:ph type="body" sz="half" idx="4294967295"/>
          </p:nvPr>
        </p:nvSpPr>
        <p:spPr>
          <a:xfrm>
            <a:off x="953961" y="1498983"/>
            <a:ext cx="21971001" cy="5777428"/>
          </a:xfrm>
          <a:prstGeom prst="rect">
            <a:avLst/>
          </a:prstGeom>
        </p:spPr>
        <p:txBody>
          <a:bodyPr/>
          <a:lstStyle/>
          <a:p>
            <a:pPr marL="0" indent="0" defTabSz="668655">
              <a:lnSpc>
                <a:spcPct val="100000"/>
              </a:lnSpc>
              <a:spcBef>
                <a:spcPts val="0"/>
              </a:spcBef>
              <a:buSzTx/>
              <a:buNone/>
              <a:defRPr b="1" sz="4455"/>
            </a:pPr>
            <a:r>
              <a:t>Pregunta 4</a:t>
            </a:r>
          </a:p>
          <a:p>
            <a:pPr marL="0" indent="0" defTabSz="668655">
              <a:lnSpc>
                <a:spcPct val="100000"/>
              </a:lnSpc>
              <a:spcBef>
                <a:spcPts val="0"/>
              </a:spcBef>
              <a:buSzTx/>
              <a:buNone/>
              <a:defRPr b="1" sz="4455"/>
            </a:pP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Chaparron y Lucas tañeda</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B. Driver Navegator</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2" invalidUrl="" action="ppaction://hlinksldjump" tgtFrame="" tooltip="" history="1" highlightClick="0" endSnd="0"/>
              </a:rPr>
              <a:t>C. Barrer, inventar, conocer, preguntar.</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D. planeación, diseño, codificación y pruebas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Respuesta 4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4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rPr b="1"/>
              <a:t>B. </a:t>
            </a:r>
            <a:r>
              <a:t>Driver and Navegator</a:t>
            </a:r>
          </a:p>
        </p:txBody>
      </p:sp>
      <p:sp>
        <p:nvSpPr>
          <p:cNvPr id="301"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Pregunta 5…"/>
          <p:cNvSpPr txBox="1"/>
          <p:nvPr>
            <p:ph type="body" sz="half" idx="4294967295"/>
          </p:nvPr>
        </p:nvSpPr>
        <p:spPr>
          <a:xfrm>
            <a:off x="953961" y="1498983"/>
            <a:ext cx="21971001" cy="5777428"/>
          </a:xfrm>
          <a:prstGeom prst="rect">
            <a:avLst/>
          </a:prstGeom>
        </p:spPr>
        <p:txBody>
          <a:bodyPr/>
          <a:lstStyle/>
          <a:p>
            <a:pPr marL="0" indent="0" defTabSz="668655">
              <a:lnSpc>
                <a:spcPct val="100000"/>
              </a:lnSpc>
              <a:spcBef>
                <a:spcPts val="0"/>
              </a:spcBef>
              <a:buSzTx/>
              <a:buNone/>
              <a:defRPr b="1" sz="4455"/>
            </a:pPr>
            <a:r>
              <a:t>Pregunta 5</a:t>
            </a:r>
          </a:p>
          <a:p>
            <a:pPr marL="0" indent="0" defTabSz="668655">
              <a:lnSpc>
                <a:spcPct val="100000"/>
              </a:lnSpc>
              <a:spcBef>
                <a:spcPts val="0"/>
              </a:spcBef>
              <a:buSzTx/>
              <a:buNone/>
              <a:defRPr b="1" sz="4455"/>
            </a:pP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Desarrollo guiado por pruebas</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B. Test Driven Development</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2" invalidUrl="" action="ppaction://hlinksldjump" tgtFrame="" tooltip="" history="1" highlightClick="0" endSnd="0"/>
              </a:rPr>
              <a:t>C. Desarrollo guiado por datos</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D. Test Driven Decoding</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Respuesta 5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5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rPr b="1"/>
              <a:t>B. </a:t>
            </a:r>
            <a:r>
              <a:t>Test Driven Development, desarrollo guiado por pruebas.</a:t>
            </a:r>
          </a:p>
        </p:txBody>
      </p:sp>
      <p:sp>
        <p:nvSpPr>
          <p:cNvPr id="306"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Pregunta 6…"/>
          <p:cNvSpPr txBox="1"/>
          <p:nvPr>
            <p:ph type="body" sz="half" idx="4294967295"/>
          </p:nvPr>
        </p:nvSpPr>
        <p:spPr>
          <a:xfrm>
            <a:off x="953961" y="1498983"/>
            <a:ext cx="21971001" cy="5777428"/>
          </a:xfrm>
          <a:prstGeom prst="rect">
            <a:avLst/>
          </a:prstGeom>
        </p:spPr>
        <p:txBody>
          <a:bodyPr/>
          <a:lstStyle/>
          <a:p>
            <a:pPr marL="0" indent="0" defTabSz="668655">
              <a:lnSpc>
                <a:spcPct val="100000"/>
              </a:lnSpc>
              <a:spcBef>
                <a:spcPts val="0"/>
              </a:spcBef>
              <a:buSzTx/>
              <a:buNone/>
              <a:defRPr b="1" sz="4455"/>
            </a:pPr>
            <a:r>
              <a:t>Pregunta 6</a:t>
            </a:r>
          </a:p>
          <a:p>
            <a:pPr marL="0" indent="0" defTabSz="668655">
              <a:lnSpc>
                <a:spcPct val="100000"/>
              </a:lnSpc>
              <a:spcBef>
                <a:spcPts val="0"/>
              </a:spcBef>
              <a:buSzTx/>
              <a:buNone/>
              <a:defRPr b="1" sz="4455"/>
            </a:pP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Directivo</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B. Amigo</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2" invalidUrl="" action="ppaction://hlinksldjump" tgtFrame="" tooltip="" history="1" highlightClick="0" endSnd="0"/>
              </a:rPr>
              <a:t>C. Aprendiz</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D. Representante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Respuesta 6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6 okay</a:t>
            </a:r>
          </a:p>
          <a:p>
            <a:pPr marL="0" indent="0" defTabSz="825500">
              <a:lnSpc>
                <a:spcPct val="100000"/>
              </a:lnSpc>
              <a:spcBef>
                <a:spcPts val="0"/>
              </a:spcBef>
              <a:buSzTx/>
              <a:buNone/>
              <a:defRPr b="1" sz="5500"/>
            </a:pPr>
          </a:p>
          <a:p>
            <a:pPr marL="0" indent="0" defTabSz="825500">
              <a:lnSpc>
                <a:spcPct val="200000"/>
              </a:lnSpc>
              <a:spcBef>
                <a:spcPts val="0"/>
              </a:spcBef>
              <a:buSzTx/>
              <a:buNone/>
              <a:defRPr b="1" sz="4000"/>
            </a:pPr>
            <a:r>
              <a:t>D. XP</a:t>
            </a:r>
            <a:r>
              <a:rPr b="0"/>
              <a:t> requiere que un representante del cliente (o alguien que conozca perfectamente el negocio) esté disponible todo el tiempo para responder preguntas del equipo de desarrollo, definir prioridades y probar las funciones apenas se terminen.</a:t>
            </a:r>
          </a:p>
        </p:txBody>
      </p:sp>
      <p:sp>
        <p:nvSpPr>
          <p:cNvPr id="311" name="Shape"/>
          <p:cNvSpPr/>
          <p:nvPr/>
        </p:nvSpPr>
        <p:spPr>
          <a:xfrm>
            <a:off x="9500282" y="6835500"/>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Pregunta 7…"/>
          <p:cNvSpPr txBox="1"/>
          <p:nvPr>
            <p:ph type="body" sz="half" idx="4294967295"/>
          </p:nvPr>
        </p:nvSpPr>
        <p:spPr>
          <a:xfrm>
            <a:off x="953961" y="1498983"/>
            <a:ext cx="21971001" cy="5777428"/>
          </a:xfrm>
          <a:prstGeom prst="rect">
            <a:avLst/>
          </a:prstGeom>
        </p:spPr>
        <p:txBody>
          <a:bodyPr/>
          <a:lstStyle/>
          <a:p>
            <a:pPr marL="0" indent="0" defTabSz="668655">
              <a:lnSpc>
                <a:spcPct val="100000"/>
              </a:lnSpc>
              <a:spcBef>
                <a:spcPts val="0"/>
              </a:spcBef>
              <a:buSzTx/>
              <a:buNone/>
              <a:defRPr b="1" sz="4455"/>
            </a:pPr>
            <a:r>
              <a:t>Pregunta 7</a:t>
            </a:r>
          </a:p>
          <a:p>
            <a:pPr marL="0" indent="0" defTabSz="668655">
              <a:lnSpc>
                <a:spcPct val="100000"/>
              </a:lnSpc>
              <a:spcBef>
                <a:spcPts val="0"/>
              </a:spcBef>
              <a:buSzTx/>
              <a:buNone/>
              <a:defRPr b="1" sz="4455"/>
            </a:pP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Le pertenece al jefe</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B. Le pertenece al dueño</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2" invalidUrl="" action="ppaction://hlinksldjump" tgtFrame="" tooltip="" history="1" highlightClick="0" endSnd="0"/>
              </a:rPr>
              <a:t>C. Le pertenece a Chaparron Bonaparte</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D. Le pertenece a todo el equipo</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Respuesta 7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7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t>D. El código no le pertenece a la persona que lo escribió; </a:t>
            </a:r>
            <a:r>
              <a:rPr b="1"/>
              <a:t>le pertenece a todo el equipo</a:t>
            </a:r>
            <a:r>
              <a:t>. Cualquiera puede revisar, mejorar o corregir cualquier parte del sistema en cualquier momento. Esto evita que el proyecto se detenga si alguien se enferma o se va.</a:t>
            </a:r>
          </a:p>
        </p:txBody>
      </p:sp>
      <p:sp>
        <p:nvSpPr>
          <p:cNvPr id="316" name="Shape"/>
          <p:cNvSpPr/>
          <p:nvPr/>
        </p:nvSpPr>
        <p:spPr>
          <a:xfrm>
            <a:off x="9500282" y="6919679"/>
            <a:ext cx="4878358" cy="48783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Pregunta 8…"/>
          <p:cNvSpPr txBox="1"/>
          <p:nvPr>
            <p:ph type="body" sz="half" idx="4294967295"/>
          </p:nvPr>
        </p:nvSpPr>
        <p:spPr>
          <a:xfrm>
            <a:off x="953961" y="1498983"/>
            <a:ext cx="21971001" cy="5777428"/>
          </a:xfrm>
          <a:prstGeom prst="rect">
            <a:avLst/>
          </a:prstGeom>
        </p:spPr>
        <p:txBody>
          <a:bodyPr/>
          <a:lstStyle/>
          <a:p>
            <a:pPr marL="0" indent="0" defTabSz="668655">
              <a:lnSpc>
                <a:spcPct val="100000"/>
              </a:lnSpc>
              <a:spcBef>
                <a:spcPts val="0"/>
              </a:spcBef>
              <a:buSzTx/>
              <a:buNone/>
              <a:defRPr b="1" sz="4455"/>
            </a:pPr>
            <a:r>
              <a:t>Pregunta 8</a:t>
            </a:r>
          </a:p>
          <a:p>
            <a:pPr marL="0" indent="0" defTabSz="668655">
              <a:lnSpc>
                <a:spcPct val="100000"/>
              </a:lnSpc>
              <a:spcBef>
                <a:spcPts val="0"/>
              </a:spcBef>
              <a:buSzTx/>
              <a:buNone/>
              <a:defRPr b="1" sz="4455"/>
            </a:pP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Maneja código</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B. Conductor de Uber</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3" invalidUrl="" action="ppaction://hlinksldjump" tgtFrame="" tooltip="" history="1" highlightClick="0" endSnd="0"/>
              </a:rPr>
              <a:t>C. Piloto de avión</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D. Astronauta</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Respuesta 8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8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t>D. Es quien tiene las manos en el teclado y se enfoca en escribir el código limpio en el momento.</a:t>
            </a:r>
          </a:p>
        </p:txBody>
      </p:sp>
      <p:sp>
        <p:nvSpPr>
          <p:cNvPr id="321"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Pregunta 9…"/>
          <p:cNvSpPr txBox="1"/>
          <p:nvPr>
            <p:ph type="body" sz="half" idx="4294967295"/>
          </p:nvPr>
        </p:nvSpPr>
        <p:spPr>
          <a:xfrm>
            <a:off x="953961" y="1498983"/>
            <a:ext cx="21971001" cy="5777428"/>
          </a:xfrm>
          <a:prstGeom prst="rect">
            <a:avLst/>
          </a:prstGeom>
        </p:spPr>
        <p:txBody>
          <a:bodyPr/>
          <a:lstStyle/>
          <a:p>
            <a:pPr marL="0" indent="0" defTabSz="668655">
              <a:lnSpc>
                <a:spcPct val="100000"/>
              </a:lnSpc>
              <a:spcBef>
                <a:spcPts val="0"/>
              </a:spcBef>
              <a:buSzTx/>
              <a:buNone/>
              <a:defRPr b="1" sz="4455"/>
            </a:pPr>
            <a:r>
              <a:t>Pregunta 9</a:t>
            </a:r>
          </a:p>
          <a:p>
            <a:pPr marL="0" indent="0" defTabSz="668655">
              <a:lnSpc>
                <a:spcPct val="100000"/>
              </a:lnSpc>
              <a:spcBef>
                <a:spcPts val="0"/>
              </a:spcBef>
              <a:buSzTx/>
              <a:buNone/>
              <a:defRPr b="1" sz="4455"/>
            </a:pP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Navega en altamar</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B. Observador y guía</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2" invalidUrl="" action="ppaction://hlinksldjump" tgtFrame="" tooltip="" history="1" highlightClick="0" endSnd="0"/>
              </a:rPr>
              <a:t>C. "Navegador" de Arpanet</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D. Navegador de yate</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Respuesta 9 okay…"/>
          <p:cNvSpPr txBox="1"/>
          <p:nvPr>
            <p:ph type="body" sz="half" idx="4294967295"/>
          </p:nvPr>
        </p:nvSpPr>
        <p:spPr>
          <a:xfrm>
            <a:off x="869781" y="1498983"/>
            <a:ext cx="21971001" cy="5777428"/>
          </a:xfrm>
          <a:prstGeom prst="rect">
            <a:avLst/>
          </a:prstGeom>
        </p:spPr>
        <p:txBody>
          <a:bodyPr/>
          <a:lstStyle/>
          <a:p>
            <a:pPr marL="0" indent="0" defTabSz="825500">
              <a:lnSpc>
                <a:spcPct val="100000"/>
              </a:lnSpc>
              <a:spcBef>
                <a:spcPts val="0"/>
              </a:spcBef>
              <a:buSzTx/>
              <a:buNone/>
              <a:defRPr b="1" sz="5500"/>
            </a:pPr>
            <a:r>
              <a:t>Respuesta 9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t>D. Observa, guía el camino, piensa en el diseño general, busca errores y se asegura de que no se desvíen del objetivo.</a:t>
            </a:r>
          </a:p>
        </p:txBody>
      </p:sp>
      <p:sp>
        <p:nvSpPr>
          <p:cNvPr id="326"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Pregunta 10…"/>
          <p:cNvSpPr txBox="1"/>
          <p:nvPr>
            <p:ph type="body" sz="half" idx="4294967295"/>
          </p:nvPr>
        </p:nvSpPr>
        <p:spPr>
          <a:xfrm>
            <a:off x="953961" y="1498983"/>
            <a:ext cx="21971001" cy="5777428"/>
          </a:xfrm>
          <a:prstGeom prst="rect">
            <a:avLst/>
          </a:prstGeom>
        </p:spPr>
        <p:txBody>
          <a:bodyPr/>
          <a:lstStyle/>
          <a:p>
            <a:pPr marL="0" indent="0" defTabSz="668655">
              <a:lnSpc>
                <a:spcPct val="200000"/>
              </a:lnSpc>
              <a:spcBef>
                <a:spcPts val="0"/>
              </a:spcBef>
              <a:buSzTx/>
              <a:buNone/>
              <a:defRPr b="1" sz="4455"/>
            </a:pPr>
            <a:r>
              <a:t>Pregunta 10</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2" invalidUrl="" action="ppaction://hlinksldjump" tgtFrame="" tooltip="" history="1" highlightClick="0" endSnd="0"/>
              </a:rPr>
              <a:t>A. Test Driven Development</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B. Test Drive</a:t>
            </a:r>
          </a:p>
          <a:p>
            <a:pPr marL="0" indent="0" defTabSz="668655">
              <a:lnSpc>
                <a:spcPct val="200000"/>
              </a:lnSpc>
              <a:spcBef>
                <a:spcPts val="0"/>
              </a:spcBef>
              <a:buSzTx/>
              <a:buNone/>
              <a:defRPr sz="4293" u="sng">
                <a:latin typeface="Times New Roman"/>
                <a:ea typeface="Times New Roman"/>
                <a:cs typeface="Times New Roman"/>
                <a:sym typeface="Times New Roman"/>
              </a:defRPr>
            </a:pPr>
            <a:r>
              <a:rPr>
                <a:hlinkClick r:id="rId3" invalidUrl="" action="ppaction://hlinksldjump" tgtFrame="" tooltip="" history="1" highlightClick="0" endSnd="0"/>
              </a:rPr>
              <a:t>C. Pruebas de Conducción</a:t>
            </a:r>
          </a:p>
          <a:p>
            <a:pPr marL="0" indent="0" defTabSz="668655">
              <a:lnSpc>
                <a:spcPct val="200000"/>
              </a:lnSpc>
              <a:spcBef>
                <a:spcPts val="0"/>
              </a:spcBef>
              <a:buSzTx/>
              <a:buNone/>
              <a:defRPr sz="4293">
                <a:latin typeface="Times New Roman"/>
                <a:ea typeface="Times New Roman"/>
                <a:cs typeface="Times New Roman"/>
                <a:sym typeface="Times New Roman"/>
              </a:defRPr>
            </a:pPr>
            <a:r>
              <a:rPr u="sng">
                <a:hlinkClick r:id="rId3" invalidUrl="" action="ppaction://hlinksldjump" tgtFrame="" tooltip="" history="1" highlightClick="0" endSnd="0"/>
              </a:rPr>
              <a:t>D. Taste test</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Respuesta 8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8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t>B. Test Driven Development. Primero escribes una prueba automatizada que falle (porque la función aún no existe).</a:t>
            </a:r>
          </a:p>
        </p:txBody>
      </p:sp>
      <p:sp>
        <p:nvSpPr>
          <p:cNvPr id="331"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Pregunta 11…"/>
          <p:cNvSpPr txBox="1"/>
          <p:nvPr>
            <p:ph type="body" sz="half" idx="4294967295"/>
          </p:nvPr>
        </p:nvSpPr>
        <p:spPr>
          <a:xfrm>
            <a:off x="953961" y="1498983"/>
            <a:ext cx="21971001" cy="5777428"/>
          </a:xfrm>
          <a:prstGeom prst="rect">
            <a:avLst/>
          </a:prstGeom>
        </p:spPr>
        <p:txBody>
          <a:bodyPr/>
          <a:lstStyle/>
          <a:p>
            <a:pPr marL="0" indent="0" defTabSz="825500">
              <a:lnSpc>
                <a:spcPct val="200000"/>
              </a:lnSpc>
              <a:spcBef>
                <a:spcPts val="0"/>
              </a:spcBef>
              <a:buSzTx/>
              <a:buNone/>
              <a:defRPr b="1" sz="4000"/>
            </a:pPr>
            <a:r>
              <a:t>Pregunta 11</a:t>
            </a:r>
          </a:p>
          <a:p>
            <a:pPr marL="0" indent="0" defTabSz="825500">
              <a:lnSpc>
                <a:spcPct val="200000"/>
              </a:lnSpc>
              <a:spcBef>
                <a:spcPts val="0"/>
              </a:spcBef>
              <a:buSzTx/>
              <a:buNone/>
              <a:defRPr sz="4000">
                <a:latin typeface="Times New Roman"/>
                <a:ea typeface="Times New Roman"/>
                <a:cs typeface="Times New Roman"/>
                <a:sym typeface="Times New Roman"/>
              </a:defRPr>
            </a:pPr>
            <a:r>
              <a:rPr u="sng">
                <a:hlinkClick r:id="rId2" invalidUrl="" action="ppaction://hlinksldjump" tgtFrame="" tooltip="" history="1" highlightClick="0" endSnd="0"/>
              </a:rPr>
              <a:t>A. iCloud Drive</a:t>
            </a:r>
          </a:p>
          <a:p>
            <a:pPr marL="0" indent="0" defTabSz="825500">
              <a:lnSpc>
                <a:spcPct val="200000"/>
              </a:lnSpc>
              <a:spcBef>
                <a:spcPts val="0"/>
              </a:spcBef>
              <a:buSzTx/>
              <a:buNone/>
              <a:defRPr sz="4100" u="sng">
                <a:latin typeface="Times New Roman"/>
                <a:ea typeface="Times New Roman"/>
                <a:cs typeface="Times New Roman"/>
                <a:sym typeface="Times New Roman"/>
              </a:defRPr>
            </a:pPr>
            <a:r>
              <a:rPr>
                <a:hlinkClick r:id="rId2" invalidUrl="" action="ppaction://hlinksldjump" tgtFrame="" tooltip="" history="1" highlightClick="0" endSnd="0"/>
              </a:rPr>
              <a:t>B. Google Drive</a:t>
            </a:r>
          </a:p>
          <a:p>
            <a:pPr marL="0" indent="0" defTabSz="825500">
              <a:lnSpc>
                <a:spcPct val="200000"/>
              </a:lnSpc>
              <a:spcBef>
                <a:spcPts val="0"/>
              </a:spcBef>
              <a:buSzTx/>
              <a:buNone/>
              <a:defRPr sz="4000">
                <a:latin typeface="Times New Roman"/>
                <a:ea typeface="Times New Roman"/>
                <a:cs typeface="Times New Roman"/>
                <a:sym typeface="Times New Roman"/>
              </a:defRPr>
            </a:pPr>
            <a:r>
              <a:rPr u="sng">
                <a:hlinkClick r:id="rId2" invalidUrl="" action="ppaction://hlinksldjump" tgtFrame="" tooltip="" history="1" highlightClick="0" endSnd="0"/>
              </a:rPr>
              <a:t>C. OneDrive</a:t>
            </a:r>
            <a:br/>
            <a:r>
              <a:rPr u="sng">
                <a:hlinkClick r:id="rId3" invalidUrl="" action="ppaction://hlinksldjump" tgtFrame="" tooltip="" history="1" highlightClick="0" endSnd="0"/>
              </a:rPr>
              <a:t>D. GitHub</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Respuesta 8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8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t>D. Los desarrolladores no guardan sus cambios para el final de la semana. En XP, el código se sube al repositorio central (como GitHub).</a:t>
            </a:r>
          </a:p>
        </p:txBody>
      </p:sp>
      <p:sp>
        <p:nvSpPr>
          <p:cNvPr id="336"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Pregunta 11…"/>
          <p:cNvSpPr txBox="1"/>
          <p:nvPr>
            <p:ph type="body" sz="half" idx="4294967295"/>
          </p:nvPr>
        </p:nvSpPr>
        <p:spPr>
          <a:xfrm>
            <a:off x="953961" y="1498983"/>
            <a:ext cx="21971001" cy="5777428"/>
          </a:xfrm>
          <a:prstGeom prst="rect">
            <a:avLst/>
          </a:prstGeom>
        </p:spPr>
        <p:txBody>
          <a:bodyPr/>
          <a:lstStyle/>
          <a:p>
            <a:pPr marL="0" indent="0" defTabSz="825500">
              <a:lnSpc>
                <a:spcPct val="200000"/>
              </a:lnSpc>
              <a:spcBef>
                <a:spcPts val="0"/>
              </a:spcBef>
              <a:buSzTx/>
              <a:buNone/>
              <a:defRPr b="1" sz="4000"/>
            </a:pPr>
            <a:r>
              <a:t>Pregunta 11</a:t>
            </a:r>
          </a:p>
          <a:p>
            <a:pPr marL="0" indent="0" defTabSz="825500">
              <a:lnSpc>
                <a:spcPct val="200000"/>
              </a:lnSpc>
              <a:spcBef>
                <a:spcPts val="0"/>
              </a:spcBef>
              <a:buSzTx/>
              <a:buNone/>
              <a:defRPr sz="4000">
                <a:latin typeface="Times New Roman"/>
                <a:ea typeface="Times New Roman"/>
                <a:cs typeface="Times New Roman"/>
                <a:sym typeface="Times New Roman"/>
              </a:defRPr>
            </a:pPr>
            <a:r>
              <a:rPr u="sng">
                <a:hlinkClick r:id="rId2" invalidUrl="" action="ppaction://hlinksldjump" tgtFrame="" tooltip="" history="1" highlightClick="0" endSnd="0"/>
              </a:rPr>
              <a:t>A. 12 veces</a:t>
            </a:r>
          </a:p>
          <a:p>
            <a:pPr marL="0" indent="0" defTabSz="825500">
              <a:lnSpc>
                <a:spcPct val="200000"/>
              </a:lnSpc>
              <a:spcBef>
                <a:spcPts val="0"/>
              </a:spcBef>
              <a:buSzTx/>
              <a:buNone/>
              <a:defRPr sz="4100" u="sng">
                <a:latin typeface="Times New Roman"/>
                <a:ea typeface="Times New Roman"/>
                <a:cs typeface="Times New Roman"/>
                <a:sym typeface="Times New Roman"/>
              </a:defRPr>
            </a:pPr>
            <a:r>
              <a:rPr>
                <a:hlinkClick r:id="rId2" invalidUrl="" action="ppaction://hlinksldjump" tgtFrame="" tooltip="" history="1" highlightClick="0" endSnd="0"/>
              </a:rPr>
              <a:t>B. 5 veces</a:t>
            </a:r>
          </a:p>
          <a:p>
            <a:pPr marL="0" indent="0" defTabSz="825500">
              <a:lnSpc>
                <a:spcPct val="200000"/>
              </a:lnSpc>
              <a:spcBef>
                <a:spcPts val="0"/>
              </a:spcBef>
              <a:buSzTx/>
              <a:buNone/>
              <a:defRPr sz="4000">
                <a:latin typeface="Times New Roman"/>
                <a:ea typeface="Times New Roman"/>
                <a:cs typeface="Times New Roman"/>
                <a:sym typeface="Times New Roman"/>
              </a:defRPr>
            </a:pPr>
            <a:r>
              <a:rPr u="sng">
                <a:hlinkClick r:id="rId3" invalidUrl="" action="ppaction://hlinksldjump" tgtFrame="" tooltip="" history="1" highlightClick="0" endSnd="0"/>
              </a:rPr>
              <a:t>C. Varias veces al día</a:t>
            </a:r>
            <a:br/>
            <a:r>
              <a:rPr u="sng">
                <a:hlinkClick r:id="rId2" invalidUrl="" action="ppaction://hlinksldjump" tgtFrame="" tooltip="" history="1" highlightClick="0" endSnd="0"/>
              </a:rPr>
              <a:t>D. 1 día</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Respuesta 8 okay…"/>
          <p:cNvSpPr txBox="1"/>
          <p:nvPr>
            <p:ph type="body" sz="half" idx="4294967295"/>
          </p:nvPr>
        </p:nvSpPr>
        <p:spPr>
          <a:xfrm>
            <a:off x="953961" y="1498983"/>
            <a:ext cx="21971001" cy="5777428"/>
          </a:xfrm>
          <a:prstGeom prst="rect">
            <a:avLst/>
          </a:prstGeom>
        </p:spPr>
        <p:txBody>
          <a:bodyPr/>
          <a:lstStyle/>
          <a:p>
            <a:pPr marL="0" indent="0" defTabSz="825500">
              <a:lnSpc>
                <a:spcPct val="100000"/>
              </a:lnSpc>
              <a:spcBef>
                <a:spcPts val="0"/>
              </a:spcBef>
              <a:buSzTx/>
              <a:buNone/>
              <a:defRPr b="1" sz="5500"/>
            </a:pPr>
            <a:r>
              <a:t>Respuesta 8 okay</a:t>
            </a:r>
          </a:p>
          <a:p>
            <a:pPr marL="0" indent="0" defTabSz="825500">
              <a:lnSpc>
                <a:spcPct val="100000"/>
              </a:lnSpc>
              <a:spcBef>
                <a:spcPts val="0"/>
              </a:spcBef>
              <a:buSzTx/>
              <a:buNone/>
              <a:defRPr b="1" sz="5500"/>
            </a:pPr>
          </a:p>
          <a:p>
            <a:pPr marL="0" indent="0" defTabSz="825500">
              <a:lnSpc>
                <a:spcPct val="200000"/>
              </a:lnSpc>
              <a:spcBef>
                <a:spcPts val="0"/>
              </a:spcBef>
              <a:buSzTx/>
              <a:buNone/>
              <a:defRPr sz="4000"/>
            </a:pPr>
            <a:r>
              <a:t>D. </a:t>
            </a:r>
            <a:r>
              <a:rPr b="1"/>
              <a:t>Varias veces al día</a:t>
            </a:r>
            <a:r>
              <a:t>. Cada vez que se sube, se ejecutan las pruebas automatizadas para asegurar que nadie rompió el sistema.</a:t>
            </a:r>
          </a:p>
        </p:txBody>
      </p:sp>
      <p:sp>
        <p:nvSpPr>
          <p:cNvPr id="341" name="Shape"/>
          <p:cNvSpPr/>
          <p:nvPr/>
        </p:nvSpPr>
        <p:spPr>
          <a:xfrm>
            <a:off x="9500282" y="5741166"/>
            <a:ext cx="4878358" cy="48783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rgbClr val="60D937"/>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INCORRECTO"/>
          <p:cNvSpPr txBox="1"/>
          <p:nvPr/>
        </p:nvSpPr>
        <p:spPr>
          <a:xfrm>
            <a:off x="7290231" y="5416739"/>
            <a:ext cx="9803538" cy="184956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nSpc>
                <a:spcPct val="80000"/>
              </a:lnSpc>
              <a:spcBef>
                <a:spcPts val="0"/>
              </a:spcBef>
              <a:defRPr b="1" spc="-232" sz="11600"/>
            </a:lvl1pPr>
          </a:lstStyle>
          <a:p>
            <a:pPr/>
            <a:r>
              <a:t>INCORRECTO</a:t>
            </a:r>
          </a:p>
        </p:txBody>
      </p:sp>
      <p:sp>
        <p:nvSpPr>
          <p:cNvPr id="344" name="Shape"/>
          <p:cNvSpPr/>
          <p:nvPr/>
        </p:nvSpPr>
        <p:spPr>
          <a:xfrm>
            <a:off x="9714399" y="7767994"/>
            <a:ext cx="4955202" cy="4955295"/>
          </a:xfrm>
          <a:custGeom>
            <a:avLst/>
            <a:gdLst/>
            <a:ahLst/>
            <a:cxnLst>
              <a:cxn ang="0">
                <a:pos x="wd2" y="hd2"/>
              </a:cxn>
              <a:cxn ang="5400000">
                <a:pos x="wd2" y="hd2"/>
              </a:cxn>
              <a:cxn ang="10800000">
                <a:pos x="wd2" y="hd2"/>
              </a:cxn>
              <a:cxn ang="16200000">
                <a:pos x="wd2" y="hd2"/>
              </a:cxn>
            </a:cxnLst>
            <a:rect l="0" t="0" r="r" b="b"/>
            <a:pathLst>
              <a:path w="19679" h="20595" fill="norm" stroke="1" extrusionOk="0">
                <a:moveTo>
                  <a:pt x="9839" y="0"/>
                </a:moveTo>
                <a:cubicBezTo>
                  <a:pt x="7321" y="0"/>
                  <a:pt x="4803" y="1006"/>
                  <a:pt x="2881" y="3016"/>
                </a:cubicBezTo>
                <a:cubicBezTo>
                  <a:pt x="-961" y="7037"/>
                  <a:pt x="-961" y="13558"/>
                  <a:pt x="2881" y="17579"/>
                </a:cubicBezTo>
                <a:cubicBezTo>
                  <a:pt x="6724" y="21600"/>
                  <a:pt x="12954" y="21600"/>
                  <a:pt x="16797" y="17579"/>
                </a:cubicBezTo>
                <a:cubicBezTo>
                  <a:pt x="20639" y="13558"/>
                  <a:pt x="20639" y="7037"/>
                  <a:pt x="16797" y="3016"/>
                </a:cubicBezTo>
                <a:cubicBezTo>
                  <a:pt x="14875" y="1006"/>
                  <a:pt x="12357" y="0"/>
                  <a:pt x="9839" y="0"/>
                </a:cubicBezTo>
                <a:close/>
                <a:moveTo>
                  <a:pt x="6165" y="4684"/>
                </a:moveTo>
                <a:cubicBezTo>
                  <a:pt x="6180" y="4684"/>
                  <a:pt x="6194" y="4690"/>
                  <a:pt x="6205" y="4702"/>
                </a:cubicBezTo>
                <a:lnTo>
                  <a:pt x="9799" y="8462"/>
                </a:lnTo>
                <a:cubicBezTo>
                  <a:pt x="9822" y="8486"/>
                  <a:pt x="9858" y="8486"/>
                  <a:pt x="9881" y="8462"/>
                </a:cubicBezTo>
                <a:lnTo>
                  <a:pt x="13474" y="4702"/>
                </a:lnTo>
                <a:cubicBezTo>
                  <a:pt x="13497" y="4678"/>
                  <a:pt x="13533" y="4678"/>
                  <a:pt x="13556" y="4702"/>
                </a:cubicBezTo>
                <a:lnTo>
                  <a:pt x="15186" y="6408"/>
                </a:lnTo>
                <a:cubicBezTo>
                  <a:pt x="15209" y="6432"/>
                  <a:pt x="15209" y="6471"/>
                  <a:pt x="15186" y="6495"/>
                </a:cubicBezTo>
                <a:lnTo>
                  <a:pt x="11593" y="10254"/>
                </a:lnTo>
                <a:cubicBezTo>
                  <a:pt x="11570" y="10278"/>
                  <a:pt x="11570" y="10317"/>
                  <a:pt x="11593" y="10341"/>
                </a:cubicBezTo>
                <a:lnTo>
                  <a:pt x="15186" y="14100"/>
                </a:lnTo>
                <a:cubicBezTo>
                  <a:pt x="15209" y="14124"/>
                  <a:pt x="15209" y="14162"/>
                  <a:pt x="15186" y="14186"/>
                </a:cubicBezTo>
                <a:lnTo>
                  <a:pt x="13556" y="15892"/>
                </a:lnTo>
                <a:cubicBezTo>
                  <a:pt x="13533" y="15916"/>
                  <a:pt x="13497" y="15916"/>
                  <a:pt x="13474" y="15892"/>
                </a:cubicBezTo>
                <a:lnTo>
                  <a:pt x="9881" y="12133"/>
                </a:lnTo>
                <a:cubicBezTo>
                  <a:pt x="9858" y="12109"/>
                  <a:pt x="9822" y="12109"/>
                  <a:pt x="9799" y="12133"/>
                </a:cubicBezTo>
                <a:lnTo>
                  <a:pt x="6205" y="15892"/>
                </a:lnTo>
                <a:cubicBezTo>
                  <a:pt x="6183" y="15916"/>
                  <a:pt x="6147" y="15916"/>
                  <a:pt x="6124" y="15892"/>
                </a:cubicBezTo>
                <a:lnTo>
                  <a:pt x="4493" y="14186"/>
                </a:lnTo>
                <a:cubicBezTo>
                  <a:pt x="4471" y="14162"/>
                  <a:pt x="4471" y="14124"/>
                  <a:pt x="4493" y="14100"/>
                </a:cubicBezTo>
                <a:lnTo>
                  <a:pt x="8085" y="10341"/>
                </a:lnTo>
                <a:cubicBezTo>
                  <a:pt x="8108" y="10317"/>
                  <a:pt x="8108" y="10278"/>
                  <a:pt x="8085" y="10254"/>
                </a:cubicBezTo>
                <a:lnTo>
                  <a:pt x="4493" y="6495"/>
                </a:lnTo>
                <a:cubicBezTo>
                  <a:pt x="4471" y="6471"/>
                  <a:pt x="4471" y="6432"/>
                  <a:pt x="4493" y="6408"/>
                </a:cubicBezTo>
                <a:lnTo>
                  <a:pt x="6124" y="4702"/>
                </a:lnTo>
                <a:cubicBezTo>
                  <a:pt x="6135" y="4690"/>
                  <a:pt x="6151" y="4684"/>
                  <a:pt x="6165" y="4684"/>
                </a:cubicBezTo>
                <a:close/>
              </a:path>
            </a:pathLst>
          </a:custGeom>
          <a:solidFill>
            <a:srgbClr val="ED220D"/>
          </a:solidFill>
          <a:ln w="12700">
            <a:miter lim="400000"/>
          </a:ln>
        </p:spPr>
        <p:txBody>
          <a:bodyPr lIns="127000" tIns="127000" rIns="127000" bIns="127000" anchor="ctr">
            <a:normAutofit fontScale="100000" lnSpcReduction="0"/>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